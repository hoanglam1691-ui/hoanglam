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10058400" cy="5029200"/>
          </a:xfrm>
          <a:prstGeom prst="rect">
            <a:avLst/>
          </a:prstGeom>
          <a:noFill/>
        </p:spPr>
        <p:txBody>
          <a:bodyPr wrap="square">
            <a:spAutoFit/>
          </a:bodyPr>
          <a:lstStyle/>
          <a:p>
            <a:pPr>
              <a:spcAft>
                <a:spcPts val="1800"/>
              </a:spcAft>
              <a:defRPr sz="1300" b="1">
                <a:solidFill>
                  <a:srgbClr val="D48F18"/>
                </a:solidFill>
                <a:latin typeface="Segoe UI"/>
              </a:defRPr>
            </a:pPr>
            <a:r>
              <a:t>CHUYÊN ĐỀ BÀI GIẢNG KẾ TOÁN DOANH NGHIỆP NÔNG NGHIỆP</a:t>
            </a:r>
          </a:p>
          <a:p>
            <a:pPr>
              <a:spcAft>
                <a:spcPts val="1600"/>
              </a:spcAft>
              <a:defRPr sz="2800" b="1">
                <a:solidFill>
                  <a:srgbClr val="FFFFFF"/>
                </a:solidFill>
                <a:latin typeface="Segoe UI"/>
              </a:defRPr>
            </a:pPr>
            <a:r>
              <a:t>KẾ TOÁN TẬP HỢP CHI PHÍ VÀ TÍNH GIÁ THÀNH</a:t>
            </a:r>
            <a:br/>
            <a:r>
              <a:t>SẢN XUẤT KINH DOANH PHỤ TRONG DOANH NGHIỆP NÔNG NGHIỆP</a:t>
            </a:r>
          </a:p>
          <a:p>
            <a:pPr>
              <a:spcAft>
                <a:spcPts val="3000"/>
              </a:spcAft>
              <a:defRPr sz="1500">
                <a:solidFill>
                  <a:srgbClr val="BEE6CD"/>
                </a:solidFill>
                <a:latin typeface="Segoe UI"/>
              </a:defRPr>
            </a:pPr>
            <a:r>
              <a:t>Căn cứ theo Thông tư số 99/2025/TT-BTC ngày 27/10/2025 của Bộ Tài chính</a:t>
            </a:r>
          </a:p>
        </p:txBody>
      </p:sp>
      <p:sp>
        <p:nvSpPr>
          <p:cNvPr id="5" name="Rounded Rectangle 4"/>
          <p:cNvSpPr/>
          <p:nvPr/>
        </p:nvSpPr>
        <p:spPr>
          <a:xfrm>
            <a:off x="1097280"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80560"/>
            <a:ext cx="2834640" cy="914400"/>
          </a:xfrm>
          <a:prstGeom prst="rect">
            <a:avLst/>
          </a:prstGeom>
          <a:noFill/>
        </p:spPr>
        <p:txBody>
          <a:bodyPr wrap="square">
            <a:spAutoFit/>
          </a:bodyPr>
          <a:lstStyle/>
          <a:p>
            <a:pPr>
              <a:spcAft>
                <a:spcPts val="600"/>
              </a:spcAft>
              <a:defRPr sz="1050" b="1">
                <a:solidFill>
                  <a:srgbClr val="D48F18"/>
                </a:solidFill>
                <a:latin typeface="Segoe UI"/>
              </a:defRPr>
            </a:pPr>
            <a:r>
              <a:t>TRỌNG TÂM NGHIỆP VỤ</a:t>
            </a:r>
          </a:p>
          <a:p>
            <a:pPr>
              <a:defRPr sz="1200">
                <a:solidFill>
                  <a:srgbClr val="FFFFFF"/>
                </a:solidFill>
                <a:latin typeface="Segoe UI"/>
              </a:defRPr>
            </a:pPr>
            <a:r>
              <a:t>Phần hành Hạch toán Chi phí &amp; Giá thành</a:t>
            </a:r>
          </a:p>
        </p:txBody>
      </p:sp>
      <p:sp>
        <p:nvSpPr>
          <p:cNvPr id="7" name="Rounded Rectangle 6"/>
          <p:cNvSpPr/>
          <p:nvPr/>
        </p:nvSpPr>
        <p:spPr>
          <a:xfrm>
            <a:off x="4526280"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4480560"/>
            <a:ext cx="2834640" cy="914400"/>
          </a:xfrm>
          <a:prstGeom prst="rect">
            <a:avLst/>
          </a:prstGeom>
          <a:noFill/>
        </p:spPr>
        <p:txBody>
          <a:bodyPr wrap="square">
            <a:spAutoFit/>
          </a:bodyPr>
          <a:lstStyle/>
          <a:p>
            <a:pPr>
              <a:spcAft>
                <a:spcPts val="600"/>
              </a:spcAft>
              <a:defRPr sz="1050" b="1">
                <a:solidFill>
                  <a:srgbClr val="D48F18"/>
                </a:solidFill>
                <a:latin typeface="Segoe UI"/>
              </a:defRPr>
            </a:pPr>
            <a:r>
              <a:t>ĐỐI TƯỢNG ÁP DỤNG</a:t>
            </a:r>
          </a:p>
          <a:p>
            <a:pPr>
              <a:defRPr sz="1200">
                <a:solidFill>
                  <a:srgbClr val="FFFFFF"/>
                </a:solidFill>
                <a:latin typeface="Segoe UI"/>
              </a:defRPr>
            </a:pPr>
            <a:r>
              <a:t>Máy cày, Trạm bơm, Cơ điện, Vận tải, TĂGS</a:t>
            </a:r>
          </a:p>
        </p:txBody>
      </p:sp>
      <p:sp>
        <p:nvSpPr>
          <p:cNvPr id="9" name="Rounded Rectangle 8"/>
          <p:cNvSpPr/>
          <p:nvPr/>
        </p:nvSpPr>
        <p:spPr>
          <a:xfrm>
            <a:off x="7955279"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4480560"/>
            <a:ext cx="2834640" cy="914400"/>
          </a:xfrm>
          <a:prstGeom prst="rect">
            <a:avLst/>
          </a:prstGeom>
          <a:noFill/>
        </p:spPr>
        <p:txBody>
          <a:bodyPr wrap="square">
            <a:spAutoFit/>
          </a:bodyPr>
          <a:lstStyle/>
          <a:p>
            <a:pPr>
              <a:spcAft>
                <a:spcPts val="600"/>
              </a:spcAft>
              <a:defRPr sz="1050" b="1">
                <a:solidFill>
                  <a:srgbClr val="D48F18"/>
                </a:solidFill>
                <a:latin typeface="Segoe UI"/>
              </a:defRPr>
            </a:pPr>
            <a:r>
              <a:t>HIỆU LỰC PHÁP LÝ</a:t>
            </a:r>
          </a:p>
          <a:p>
            <a:pPr>
              <a:defRPr sz="1200">
                <a:solidFill>
                  <a:srgbClr val="FFFFFF"/>
                </a:solidFill>
                <a:latin typeface="Segoe UI"/>
              </a:defRPr>
            </a:pPr>
            <a:r>
              <a:t>Áp dụng từ niên độ tài chính 2026</a:t>
            </a:r>
          </a:p>
        </p:txBody>
      </p:sp>
      <p:sp>
        <p:nvSpPr>
          <p:cNvPr id="11" name="TextBox 10"/>
          <p:cNvSpPr txBox="1"/>
          <p:nvPr/>
        </p:nvSpPr>
        <p:spPr>
          <a:xfrm>
            <a:off x="1097280" y="6035040"/>
            <a:ext cx="10058400" cy="457200"/>
          </a:xfrm>
          <a:prstGeom prst="rect">
            <a:avLst/>
          </a:prstGeom>
          <a:noFill/>
        </p:spPr>
        <p:txBody>
          <a:bodyPr wrap="none">
            <a:spAutoFit/>
          </a:bodyPr>
          <a:lstStyle/>
          <a:p>
            <a:pPr>
              <a:defRPr sz="1000">
                <a:solidFill>
                  <a:srgbClr val="96B4A5"/>
                </a:solidFill>
              </a:defRPr>
            </a:pPr>
            <a:r>
              <a:t>Bộ môn Kế toán Doanh nghiệp • Hệ thống bài giảng thực hành hạch toán theo Chế độ Kế toán Doanh nghiệp mới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 KHÁI NIỆM &amp; BẢN CHẤT</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02/10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Bản Chất &amp; Đặc Điểm SXKD Phụ Trong Doanh Nghiệp Nông Nghiệp</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Nhận diện các bộ phận phụ trợ, chức năng phục vụ sản xuất chính và đặc thù luân chuyển chi phí</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663440"/>
          </a:xfrm>
          <a:prstGeom prst="rect">
            <a:avLst/>
          </a:prstGeom>
          <a:noFill/>
        </p:spPr>
        <p:txBody>
          <a:bodyPr wrap="square">
            <a:spAutoFit/>
          </a:bodyPr>
          <a:lstStyle/>
          <a:p>
            <a:pPr>
              <a:spcAft>
                <a:spcPts val="1000"/>
              </a:spcAft>
              <a:defRPr sz="1400" b="1">
                <a:solidFill>
                  <a:srgbClr val="123524"/>
                </a:solidFill>
                <a:latin typeface="Segoe UI"/>
              </a:defRPr>
            </a:pPr>
            <a:r>
              <a:t>1. Các Bộ Phận SXKD Phụ Điển Hình</a:t>
            </a:r>
          </a:p>
          <a:p>
            <a:pPr>
              <a:spcAft>
                <a:spcPts val="700"/>
              </a:spcAft>
              <a:defRPr sz="1100" b="1">
                <a:solidFill>
                  <a:srgbClr val="1A2421"/>
                </a:solidFill>
                <a:latin typeface="Segoe UI"/>
              </a:defRPr>
            </a:pPr>
            <a:r>
              <a:t>• Đội Máy kéo &amp; Cơ giới nông nghiệp: </a:t>
            </a:r>
            <a:r>
              <a:rPr b="0" sz="1050">
                <a:solidFill>
                  <a:srgbClr val="1A2421"/>
                </a:solidFill>
              </a:rPr>
              <a:t>Thực hiện làm đất (cày, bừa), gieo sạ, phun thuốc bảo vệ thực vật bằng máy bay không người lái (drone), gặt đập liên hợp.</a:t>
            </a:r>
          </a:p>
          <a:p>
            <a:pPr>
              <a:spcAft>
                <a:spcPts val="700"/>
              </a:spcAft>
              <a:defRPr sz="1100" b="1">
                <a:solidFill>
                  <a:srgbClr val="1A2421"/>
                </a:solidFill>
                <a:latin typeface="Segoe UI"/>
              </a:defRPr>
            </a:pPr>
            <a:r>
              <a:t>• Trạm Bơm &amp; Thủy nông nội đồng: </a:t>
            </a:r>
            <a:r>
              <a:rPr b="0" sz="1050">
                <a:solidFill>
                  <a:srgbClr val="1A2421"/>
                </a:solidFill>
              </a:rPr>
              <a:t>Đảm nhận tưới tiêu, bơm cấp thoát nước phục vụ chu kỳ sinh trưởng cây trồng mùa khô và chống ngập úng mùa mưa.</a:t>
            </a:r>
          </a:p>
          <a:p>
            <a:pPr>
              <a:spcAft>
                <a:spcPts val="700"/>
              </a:spcAft>
              <a:defRPr sz="1100" b="1">
                <a:solidFill>
                  <a:srgbClr val="1A2421"/>
                </a:solidFill>
                <a:latin typeface="Segoe UI"/>
              </a:defRPr>
            </a:pPr>
            <a:r>
              <a:t>• Xưởng Sửa chữa cơ điện &amp; Nông cụ: </a:t>
            </a:r>
            <a:r>
              <a:rPr b="0" sz="1050">
                <a:solidFill>
                  <a:srgbClr val="1A2421"/>
                </a:solidFill>
              </a:rPr>
              <a:t>Duy tu, bảo dưỡng định kỳ, sửa chữa lớn và vừa máy móc thiết bị, đầu kéo, dàn xới, hệ thống tưới và chuồng trại.</a:t>
            </a:r>
          </a:p>
          <a:p>
            <a:pPr>
              <a:spcAft>
                <a:spcPts val="700"/>
              </a:spcAft>
              <a:defRPr sz="1100" b="1">
                <a:solidFill>
                  <a:srgbClr val="1A2421"/>
                </a:solidFill>
                <a:latin typeface="Segoe UI"/>
              </a:defRPr>
            </a:pPr>
            <a:r>
              <a:t>• Đội Xe vận tải nội bộ &amp; Thu hoạch: </a:t>
            </a:r>
            <a:r>
              <a:rPr b="0" sz="1050">
                <a:solidFill>
                  <a:srgbClr val="1A2421"/>
                </a:solidFill>
              </a:rPr>
              <a:t>Vận chuyển vật tư nông nghiệp (phân bón, giống, thuốc) ra đồng và chở nông sản, thức ăn từ cánh đồng về kho bãi.</a:t>
            </a:r>
          </a:p>
          <a:p>
            <a:pPr>
              <a:spcAft>
                <a:spcPts val="700"/>
              </a:spcAft>
              <a:defRPr sz="1100" b="1">
                <a:solidFill>
                  <a:srgbClr val="1A2421"/>
                </a:solidFill>
                <a:latin typeface="Segoe UI"/>
              </a:defRPr>
            </a:pPr>
            <a:r>
              <a:t>• Phân xưởng Chế biến TĂGS &amp; Phân vi sinh: </a:t>
            </a:r>
            <a:r>
              <a:rPr b="0" sz="1050">
                <a:solidFill>
                  <a:srgbClr val="1A2421"/>
                </a:solidFill>
              </a:rPr>
              <a:t>Phối trộn thức ăn chăn nuôi ủ chua, sản xuất phân bón hữu cơ vi sinh từ phụ phẩm nông nghiệp tái sử dụng.</a:t>
            </a:r>
          </a:p>
        </p:txBody>
      </p:sp>
      <p:sp>
        <p:nvSpPr>
          <p:cNvPr id="12" name="Rounded Rectangle 11"/>
          <p:cNvSpPr/>
          <p:nvPr/>
        </p:nvSpPr>
        <p:spPr>
          <a:xfrm>
            <a:off x="6217920" y="1280160"/>
            <a:ext cx="5212080" cy="4937760"/>
          </a:xfrm>
          <a:prstGeom prst="roundRect">
            <a:avLst/>
          </a:prstGeom>
          <a:solidFill>
            <a:srgbClr val="F5F9F6"/>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663440"/>
          </a:xfrm>
          <a:prstGeom prst="rect">
            <a:avLst/>
          </a:prstGeom>
          <a:noFill/>
        </p:spPr>
        <p:txBody>
          <a:bodyPr wrap="square">
            <a:spAutoFit/>
          </a:bodyPr>
          <a:lstStyle/>
          <a:p>
            <a:pPr>
              <a:spcAft>
                <a:spcPts val="1000"/>
              </a:spcAft>
              <a:defRPr sz="1400" b="1">
                <a:solidFill>
                  <a:srgbClr val="123524"/>
                </a:solidFill>
                <a:latin typeface="Segoe UI"/>
              </a:defRPr>
            </a:pPr>
            <a:r>
              <a:t>2. Đặc Thù Luân Chuyển Chi Phí &amp; Quản Trị</a:t>
            </a:r>
          </a:p>
          <a:p>
            <a:pPr>
              <a:spcAft>
                <a:spcPts val="800"/>
              </a:spcAft>
              <a:defRPr sz="1100" b="1">
                <a:solidFill>
                  <a:srgbClr val="123524"/>
                </a:solidFill>
                <a:latin typeface="Segoe UI"/>
              </a:defRPr>
            </a:pPr>
            <a:r>
              <a:t>• Mục đích tồn tại chính: </a:t>
            </a:r>
            <a:r>
              <a:rPr b="0" sz="1050">
                <a:solidFill>
                  <a:srgbClr val="1A2421"/>
                </a:solidFill>
              </a:rPr>
              <a:t>Không bán sản phẩm đơn thuần ra ngoài mà trực tiếp tạo điều kiện, giảm chi phí đầu vào cho các ngành sản xuất chính (trồng trọt, chăn nuôi).</a:t>
            </a:r>
          </a:p>
          <a:p>
            <a:pPr>
              <a:spcAft>
                <a:spcPts val="800"/>
              </a:spcAft>
              <a:defRPr sz="1100" b="1">
                <a:solidFill>
                  <a:srgbClr val="123524"/>
                </a:solidFill>
                <a:latin typeface="Segoe UI"/>
              </a:defRPr>
            </a:pPr>
            <a:r>
              <a:t>• Mối quan hệ phục vụ phức tạp (3 chiều): </a:t>
            </a:r>
            <a:r>
              <a:rPr b="0" sz="1050">
                <a:solidFill>
                  <a:srgbClr val="1A2421"/>
                </a:solidFill>
              </a:rPr>
              <a:t>① Phục vụ trực tiếp cho Trồng trọt, Chăn nuôi;
② Phục vụ lẫn nhau giữa các đội phụ (Xe chở dầu cho trạm bơm, Cơ điện sửa xe tải);
③ Cung cấp dịch vụ ra ngoài thị trường khi nhàn rỗi.</a:t>
            </a:r>
          </a:p>
          <a:p>
            <a:pPr>
              <a:spcAft>
                <a:spcPts val="800"/>
              </a:spcAft>
              <a:defRPr sz="1100" b="1">
                <a:solidFill>
                  <a:srgbClr val="123524"/>
                </a:solidFill>
                <a:latin typeface="Segoe UI"/>
              </a:defRPr>
            </a:pPr>
            <a:r>
              <a:t>• Tính chất mùa vụ rất sâu sắc: </a:t>
            </a:r>
            <a:r>
              <a:rPr b="0" sz="1050">
                <a:solidFill>
                  <a:srgbClr val="1A2421"/>
                </a:solidFill>
              </a:rPr>
              <a:t>Vào thời vụ gieo cấy/thu hoạch: Hoạt động tối đa công suất. Vào mùa nông nhàn: Máy móc nằm chờ, phát sinh chi phí khấu hao tĩnh cần xử lý riêng.</a:t>
            </a:r>
          </a:p>
          <a:p>
            <a:pPr>
              <a:spcAft>
                <a:spcPts val="800"/>
              </a:spcAft>
              <a:defRPr sz="1100" b="1">
                <a:solidFill>
                  <a:srgbClr val="123524"/>
                </a:solidFill>
                <a:latin typeface="Segoe UI"/>
              </a:defRPr>
            </a:pPr>
            <a:r>
              <a:t>• Yêu cầu hạch toán: </a:t>
            </a:r>
            <a:r>
              <a:rPr b="0" sz="1050">
                <a:solidFill>
                  <a:srgbClr val="1A2421"/>
                </a:solidFill>
              </a:rPr>
              <a:t>Phải tính toán chính xác giá thành đơn vị lao vụ để phân bổ hợp lý vào chi phí sản phẩm cây trồng, vật nuôi; tránh làm méo mó giá thành nông sản.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II: CĂN CỨ PHÁP LÝ MỚI</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03/10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Điểm Mới &amp; Nguyên Tắc Hạch Toán Theo Thông Tư 99/2025/TT-BTC</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Các thay đổi quan trọng về quyền tự chủ tài khoản, công suất bình thường và phương pháp chi phí chuẩn</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3383280" cy="493776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280160"/>
            <a:ext cx="3383280" cy="594360"/>
          </a:xfrm>
          <a:prstGeom prst="rect">
            <a:avLst/>
          </a:prstGeom>
          <a:solidFill>
            <a:srgbClr val="227045"/>
          </a:solidFill>
          <a:ln>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200" b="1">
                <a:solidFill>
                  <a:srgbClr val="FFFFFF"/>
                </a:solidFill>
                <a:latin typeface="Segoe UI"/>
              </a:defRPr>
            </a:pPr>
            <a:r>
              <a:t>TỰ CHỦ THIẾT LẬP TÀI KHOẢN</a:t>
            </a:r>
          </a:p>
        </p:txBody>
      </p:sp>
      <p:sp>
        <p:nvSpPr>
          <p:cNvPr id="12" name="TextBox 11"/>
          <p:cNvSpPr txBox="1"/>
          <p:nvPr/>
        </p:nvSpPr>
        <p:spPr>
          <a:xfrm>
            <a:off x="914400" y="2011680"/>
            <a:ext cx="3017520" cy="4114800"/>
          </a:xfrm>
          <a:prstGeom prst="rect">
            <a:avLst/>
          </a:prstGeom>
          <a:noFill/>
        </p:spPr>
        <p:txBody>
          <a:bodyPr wrap="square">
            <a:spAutoFit/>
          </a:bodyPr>
          <a:lstStyle/>
          <a:p>
            <a:pPr>
              <a:spcAft>
                <a:spcPts val="1000"/>
              </a:spcAft>
              <a:defRPr sz="1050" b="1">
                <a:solidFill>
                  <a:srgbClr val="123524"/>
                </a:solidFill>
                <a:latin typeface="Segoe UI"/>
              </a:defRPr>
            </a:pPr>
            <a:r>
              <a:t>✔ Quyền phân cấp TK chi tiết: </a:t>
            </a:r>
            <a:r>
              <a:rPr b="0" sz="1000">
                <a:solidFill>
                  <a:srgbClr val="1A2421"/>
                </a:solidFill>
              </a:rPr>
              <a:t>Thông tư 99 trao quyền tự chủ tuyệt đối cho DN tự mở các tài khoản cấp 2, cấp 3 theo nhu cầu quản trị nội bộ mà không bị gò bó danh mục hành chính.</a:t>
            </a:r>
          </a:p>
          <a:p>
            <a:pPr>
              <a:spcAft>
                <a:spcPts val="1000"/>
              </a:spcAft>
              <a:defRPr sz="1050" b="1">
                <a:solidFill>
                  <a:srgbClr val="123524"/>
                </a:solidFill>
                <a:latin typeface="Segoe UI"/>
              </a:defRPr>
            </a:pPr>
            <a:r>
              <a:t>✔ Mô hình tài khoản SXKD phụ: </a:t>
            </a:r>
            <a:r>
              <a:rPr b="0" sz="1000">
                <a:solidFill>
                  <a:srgbClr val="1A2421"/>
                </a:solidFill>
              </a:rPr>
              <a:t>Doanh nghiệp chủ động phân tách TK 154 thành 1541 (Cơ giới), 1542 (Vận tải), 1543 (Cơ điện) hoặc chi tiết theo từng đội/trạm.</a:t>
            </a:r>
          </a:p>
          <a:p>
            <a:pPr>
              <a:spcAft>
                <a:spcPts val="1000"/>
              </a:spcAft>
              <a:defRPr sz="1050" b="1">
                <a:solidFill>
                  <a:srgbClr val="123524"/>
                </a:solidFill>
                <a:latin typeface="Segoe UI"/>
              </a:defRPr>
            </a:pPr>
            <a:r>
              <a:t>✔ Định hướng quản trị: </a:t>
            </a:r>
            <a:r>
              <a:rPr b="0" sz="1000">
                <a:solidFill>
                  <a:srgbClr val="1A2421"/>
                </a:solidFill>
              </a:rPr>
              <a:t>Chuyển từ ghi chép tuân thủ sang công cụ kiểm soát chi phí từng loại nông cụ và định mức tiêu hao xăng dầu.</a:t>
            </a:r>
          </a:p>
        </p:txBody>
      </p:sp>
      <p:sp>
        <p:nvSpPr>
          <p:cNvPr id="13" name="Rounded Rectangle 12"/>
          <p:cNvSpPr/>
          <p:nvPr/>
        </p:nvSpPr>
        <p:spPr>
          <a:xfrm>
            <a:off x="4389120" y="1280160"/>
            <a:ext cx="3383280" cy="4937760"/>
          </a:xfrm>
          <a:prstGeom prst="roundRect">
            <a:avLst/>
          </a:prstGeom>
          <a:solidFill>
            <a:srgbClr val="EEF6F0"/>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280160"/>
            <a:ext cx="3383280" cy="594360"/>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200" b="1">
                <a:solidFill>
                  <a:srgbClr val="FFFFFF"/>
                </a:solidFill>
                <a:latin typeface="Segoe UI"/>
              </a:defRPr>
            </a:pPr>
            <a:r>
              <a:t>CÔNG SUẤT BÌNH THƯỜNG (TK 627)</a:t>
            </a:r>
          </a:p>
        </p:txBody>
      </p:sp>
      <p:sp>
        <p:nvSpPr>
          <p:cNvPr id="15" name="TextBox 14"/>
          <p:cNvSpPr txBox="1"/>
          <p:nvPr/>
        </p:nvSpPr>
        <p:spPr>
          <a:xfrm>
            <a:off x="4572000" y="2011680"/>
            <a:ext cx="3017520" cy="4114800"/>
          </a:xfrm>
          <a:prstGeom prst="rect">
            <a:avLst/>
          </a:prstGeom>
          <a:noFill/>
        </p:spPr>
        <p:txBody>
          <a:bodyPr wrap="square">
            <a:spAutoFit/>
          </a:bodyPr>
          <a:lstStyle/>
          <a:p>
            <a:pPr>
              <a:spcAft>
                <a:spcPts val="1000"/>
              </a:spcAft>
              <a:defRPr sz="1050" b="1">
                <a:solidFill>
                  <a:srgbClr val="123524"/>
                </a:solidFill>
                <a:latin typeface="Segoe UI"/>
              </a:defRPr>
            </a:pPr>
            <a:r>
              <a:t>✔ Phân bổ chi phí SXC biến đổi: </a:t>
            </a:r>
            <a:r>
              <a:rPr b="0" sz="1000">
                <a:solidFill>
                  <a:srgbClr val="1A2421"/>
                </a:solidFill>
              </a:rPr>
              <a:t>Được phân bổ toàn bộ vào chi phí chế biến/giá thành sản phẩm theo chi phí thực tế phát sinh trong kỳ.</a:t>
            </a:r>
          </a:p>
          <a:p>
            <a:pPr>
              <a:spcAft>
                <a:spcPts val="1000"/>
              </a:spcAft>
              <a:defRPr sz="1050" b="1">
                <a:solidFill>
                  <a:srgbClr val="123524"/>
                </a:solidFill>
                <a:latin typeface="Segoe UI"/>
              </a:defRPr>
            </a:pPr>
            <a:r>
              <a:t>✔ Phân bổ chi phí SXC cố định: </a:t>
            </a:r>
            <a:r>
              <a:rPr b="0" sz="1000">
                <a:solidFill>
                  <a:srgbClr val="1A2421"/>
                </a:solidFill>
              </a:rPr>
              <a:t>Được phân bổ vào giá thành dựa trên CÔNG SUẤT BÌNH THƯỜNG của máy móc thiết bị.</a:t>
            </a:r>
          </a:p>
          <a:p>
            <a:pPr>
              <a:spcAft>
                <a:spcPts val="1000"/>
              </a:spcAft>
              <a:defRPr sz="1050" b="1">
                <a:solidFill>
                  <a:srgbClr val="123524"/>
                </a:solidFill>
                <a:latin typeface="Segoe UI"/>
              </a:defRPr>
            </a:pPr>
            <a:r>
              <a:t>✔ Xử lý chi phí mùa nông nhàn: </a:t>
            </a:r>
            <a:r>
              <a:rPr b="0" sz="1000">
                <a:solidFill>
                  <a:srgbClr val="1A2421"/>
                </a:solidFill>
              </a:rPr>
              <a:t>Nếu sản lượng thực tế thấp hơn công suất bình thường, phần định phí SXC không phân bổ được GHI THẲNG VÀO TK 632, không được tính vào giá thành!</a:t>
            </a:r>
          </a:p>
        </p:txBody>
      </p:sp>
      <p:sp>
        <p:nvSpPr>
          <p:cNvPr id="16" name="Rounded Rectangle 15"/>
          <p:cNvSpPr/>
          <p:nvPr/>
        </p:nvSpPr>
        <p:spPr>
          <a:xfrm>
            <a:off x="8046720" y="1280160"/>
            <a:ext cx="3383280" cy="493776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280160"/>
            <a:ext cx="3383280" cy="594360"/>
          </a:xfrm>
          <a:prstGeom prst="rect">
            <a:avLst/>
          </a:prstGeom>
          <a:solidFill>
            <a:srgbClr val="0F5298"/>
          </a:solidFill>
          <a:ln>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200" b="1">
                <a:solidFill>
                  <a:srgbClr val="FFFFFF"/>
                </a:solidFill>
                <a:latin typeface="Segoe UI"/>
              </a:defRPr>
            </a:pPr>
            <a:r>
              <a:t>PHƯƠNG PHÁP CHI PHÍ CHUẨN</a:t>
            </a:r>
          </a:p>
        </p:txBody>
      </p:sp>
      <p:sp>
        <p:nvSpPr>
          <p:cNvPr id="18" name="TextBox 17"/>
          <p:cNvSpPr txBox="1"/>
          <p:nvPr/>
        </p:nvSpPr>
        <p:spPr>
          <a:xfrm>
            <a:off x="8229600" y="2011680"/>
            <a:ext cx="3017520" cy="4114800"/>
          </a:xfrm>
          <a:prstGeom prst="rect">
            <a:avLst/>
          </a:prstGeom>
          <a:noFill/>
        </p:spPr>
        <p:txBody>
          <a:bodyPr wrap="square">
            <a:spAutoFit/>
          </a:bodyPr>
          <a:lstStyle/>
          <a:p>
            <a:pPr>
              <a:spcAft>
                <a:spcPts val="1000"/>
              </a:spcAft>
              <a:defRPr sz="1050" b="1">
                <a:solidFill>
                  <a:srgbClr val="123524"/>
                </a:solidFill>
                <a:latin typeface="Segoe UI"/>
              </a:defRPr>
            </a:pPr>
            <a:r>
              <a:t>✔ Chuẩn hóa tính giá thành nhanh: </a:t>
            </a:r>
            <a:r>
              <a:rPr b="0" sz="1000">
                <a:solidFill>
                  <a:srgbClr val="1A2421"/>
                </a:solidFill>
              </a:rPr>
              <a:t>Thông tư 99 chính thức bổ sung hướng dẫn áp dụng phương pháp chi phí chuẩn (Standard Costing) trong tính giá thành sản xuất.</a:t>
            </a:r>
          </a:p>
          <a:p>
            <a:pPr>
              <a:spcAft>
                <a:spcPts val="1000"/>
              </a:spcAft>
              <a:defRPr sz="1050" b="1">
                <a:solidFill>
                  <a:srgbClr val="123524"/>
                </a:solidFill>
                <a:latin typeface="Segoe UI"/>
              </a:defRPr>
            </a:pPr>
            <a:r>
              <a:t>✔ Giải bài toán phục vụ chéo: </a:t>
            </a:r>
            <a:r>
              <a:rPr b="0" sz="1000">
                <a:solidFill>
                  <a:srgbClr val="1A2421"/>
                </a:solidFill>
              </a:rPr>
              <a:t>Cho phép các phân xưởng phụ tạm tính thanh toán lao vụ cho nhau theo ĐƠN GIÁ ĐỊNH MỨC/KẾ HOẠCH ngay trong kỳ.</a:t>
            </a:r>
          </a:p>
          <a:p>
            <a:pPr>
              <a:spcAft>
                <a:spcPts val="1000"/>
              </a:spcAft>
              <a:defRPr sz="1050" b="1">
                <a:solidFill>
                  <a:srgbClr val="123524"/>
                </a:solidFill>
                <a:latin typeface="Segoe UI"/>
              </a:defRPr>
            </a:pPr>
            <a:r>
              <a:t>✔ Xử lý chênh lệch cuối kỳ: </a:t>
            </a:r>
            <a:r>
              <a:rPr b="0" sz="1000">
                <a:solidFill>
                  <a:srgbClr val="1A2421"/>
                </a:solidFill>
              </a:rPr>
              <a:t>Cuối kỳ kế toán mới tiến hành đánh giá chênh lệch giữa chi phí thực tế và chi phí chuẩn để kết chuyển điều chỉnh.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III: THIẾT KẾ DANH MỤC TÀI KHOẢN</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04/10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Hệ Thống Tài Khoản Kế Toán Sử Dụng &amp; Đối Tượng Chi Phí</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Thiết lập danh mục tài khoản chi phí theo Thông tư 99/2025/TT-BTC phù hợp đặc thù nông nghiệp</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graphicFrame>
        <p:nvGraphicFramePr>
          <p:cNvPr id="10" name="Table 9"/>
          <p:cNvGraphicFramePr>
            <a:graphicFrameLocks noGrp="1"/>
          </p:cNvGraphicFramePr>
          <p:nvPr/>
        </p:nvGraphicFramePr>
        <p:xfrm>
          <a:off x="731520" y="1280160"/>
          <a:ext cx="10728655" cy="4846320"/>
        </p:xfrm>
        <a:graphic>
          <a:graphicData uri="http://schemas.openxmlformats.org/drawingml/2006/table">
            <a:tbl>
              <a:tblPr firstRow="1" bandRow="1">
                <a:tableStyleId>{5C22544A-7EE6-4342-B048-85BDC9FD1C3A}</a:tableStyleId>
              </a:tblPr>
              <a:tblGrid>
                <a:gridCol w="1463040"/>
                <a:gridCol w="2743200"/>
                <a:gridCol w="4114800"/>
                <a:gridCol w="2407615"/>
              </a:tblGrid>
              <a:tr h="807720">
                <a:tc>
                  <a:txBody>
                    <a:bodyPr/>
                    <a:lstStyle/>
                    <a:p>
                      <a:pPr algn="ctr">
                        <a:defRPr sz="1100" b="1">
                          <a:solidFill>
                            <a:srgbClr val="FFFFFF"/>
                          </a:solidFill>
                          <a:latin typeface="Segoe UI"/>
                        </a:defRPr>
                      </a:pPr>
                      <a:r>
                        <a:t>Số Hiệu TK</a:t>
                      </a:r>
                    </a:p>
                  </a:txBody>
                  <a:tcPr>
                    <a:solidFill>
                      <a:srgbClr val="123524"/>
                    </a:solidFill>
                  </a:tcPr>
                </a:tc>
                <a:tc>
                  <a:txBody>
                    <a:bodyPr/>
                    <a:lstStyle/>
                    <a:p>
                      <a:pPr algn="ctr">
                        <a:defRPr sz="1100" b="1">
                          <a:solidFill>
                            <a:srgbClr val="FFFFFF"/>
                          </a:solidFill>
                          <a:latin typeface="Segoe UI"/>
                        </a:defRPr>
                      </a:pPr>
                      <a:r>
                        <a:t>Tên Tài Khoản Cấp 1 &amp; Chi Tiết</a:t>
                      </a:r>
                    </a:p>
                  </a:txBody>
                  <a:tcPr>
                    <a:solidFill>
                      <a:srgbClr val="123524"/>
                    </a:solidFill>
                  </a:tcPr>
                </a:tc>
                <a:tc>
                  <a:txBody>
                    <a:bodyPr/>
                    <a:lstStyle/>
                    <a:p>
                      <a:pPr algn="ctr">
                        <a:defRPr sz="1100" b="1">
                          <a:solidFill>
                            <a:srgbClr val="FFFFFF"/>
                          </a:solidFill>
                          <a:latin typeface="Segoe UI"/>
                        </a:defRPr>
                      </a:pPr>
                      <a:r>
                        <a:t>Nội Dung Phản Ánh Chi Phí SXKD Phụ</a:t>
                      </a:r>
                    </a:p>
                  </a:txBody>
                  <a:tcPr>
                    <a:solidFill>
                      <a:srgbClr val="123524"/>
                    </a:solidFill>
                  </a:tcPr>
                </a:tc>
                <a:tc>
                  <a:txBody>
                    <a:bodyPr/>
                    <a:lstStyle/>
                    <a:p>
                      <a:pPr algn="ctr">
                        <a:defRPr sz="1100" b="1">
                          <a:solidFill>
                            <a:srgbClr val="FFFFFF"/>
                          </a:solidFill>
                          <a:latin typeface="Segoe UI"/>
                        </a:defRPr>
                      </a:pPr>
                      <a:r>
                        <a:t>Đơn Vị Tính Giá Thành</a:t>
                      </a:r>
                    </a:p>
                  </a:txBody>
                  <a:tcPr>
                    <a:solidFill>
                      <a:srgbClr val="123524"/>
                    </a:solidFill>
                  </a:tcPr>
                </a:tc>
              </a:tr>
              <a:tr h="807720">
                <a:tc>
                  <a:txBody>
                    <a:bodyPr/>
                    <a:lstStyle/>
                    <a:p>
                      <a:pPr algn="ctr">
                        <a:defRPr sz="1000" b="1">
                          <a:solidFill>
                            <a:srgbClr val="123524"/>
                          </a:solidFill>
                          <a:latin typeface="Segoe UI"/>
                        </a:defRPr>
                      </a:pPr>
                      <a:r>
                        <a:t>TK 621</a:t>
                      </a:r>
                    </a:p>
                  </a:txBody>
                  <a:tcPr>
                    <a:solidFill>
                      <a:srgbClr val="EEF6F0"/>
                    </a:solidFill>
                  </a:tcPr>
                </a:tc>
                <a:tc>
                  <a:txBody>
                    <a:bodyPr/>
                    <a:lstStyle/>
                    <a:p>
                      <a:pPr>
                        <a:defRPr sz="1000">
                          <a:solidFill>
                            <a:srgbClr val="1A2421"/>
                          </a:solidFill>
                          <a:latin typeface="Segoe UI"/>
                        </a:defRPr>
                      </a:pPr>
                      <a:r>
                        <a:t>Chi phí nguyên liệu, vật liệu trực tiếp</a:t>
                      </a:r>
                    </a:p>
                  </a:txBody>
                  <a:tcPr>
                    <a:solidFill>
                      <a:srgbClr val="EEF6F0"/>
                    </a:solidFill>
                  </a:tcPr>
                </a:tc>
                <a:tc>
                  <a:txBody>
                    <a:bodyPr/>
                    <a:lstStyle/>
                    <a:p>
                      <a:pPr>
                        <a:defRPr sz="1000">
                          <a:solidFill>
                            <a:srgbClr val="1A2421"/>
                          </a:solidFill>
                          <a:latin typeface="Segoe UI"/>
                        </a:defRPr>
                      </a:pPr>
                      <a:r>
                        <a:t>Nhiên liệu (dầu Diesel, xăng), dầu nhớt bôi trơn máy móc; phụ tùng thay thế (lưỡi cày, xích, lốp xe); vật tư sửa chữa cơ điện.</a:t>
                      </a:r>
                    </a:p>
                  </a:txBody>
                  <a:tcPr>
                    <a:solidFill>
                      <a:srgbClr val="EEF6F0"/>
                    </a:solidFill>
                  </a:tcPr>
                </a:tc>
                <a:tc>
                  <a:txBody>
                    <a:bodyPr/>
                    <a:lstStyle/>
                    <a:p>
                      <a:pPr>
                        <a:defRPr sz="1000">
                          <a:solidFill>
                            <a:srgbClr val="1A2421"/>
                          </a:solidFill>
                          <a:latin typeface="Segoe UI"/>
                        </a:defRPr>
                      </a:pPr>
                      <a:r>
                        <a:t>Tập hợp theo từng Đội/Tổ xe máy cày, ô tô, máy bơm.</a:t>
                      </a:r>
                    </a:p>
                  </a:txBody>
                  <a:tcPr>
                    <a:solidFill>
                      <a:srgbClr val="EEF6F0"/>
                    </a:solidFill>
                  </a:tcPr>
                </a:tc>
              </a:tr>
              <a:tr h="807720">
                <a:tc>
                  <a:txBody>
                    <a:bodyPr/>
                    <a:lstStyle/>
                    <a:p>
                      <a:pPr algn="ctr">
                        <a:defRPr sz="1000" b="1">
                          <a:solidFill>
                            <a:srgbClr val="123524"/>
                          </a:solidFill>
                          <a:latin typeface="Segoe UI"/>
                        </a:defRPr>
                      </a:pPr>
                      <a:r>
                        <a:t>TK 622</a:t>
                      </a:r>
                    </a:p>
                  </a:txBody>
                  <a:tcPr>
                    <a:solidFill>
                      <a:srgbClr val="FFFFFF"/>
                    </a:solidFill>
                  </a:tcPr>
                </a:tc>
                <a:tc>
                  <a:txBody>
                    <a:bodyPr/>
                    <a:lstStyle/>
                    <a:p>
                      <a:pPr>
                        <a:defRPr sz="1000">
                          <a:solidFill>
                            <a:srgbClr val="1A2421"/>
                          </a:solidFill>
                          <a:latin typeface="Segoe UI"/>
                        </a:defRPr>
                      </a:pPr>
                      <a:r>
                        <a:t>Chi phí nhân công trực tiếp</a:t>
                      </a:r>
                    </a:p>
                  </a:txBody>
                  <a:tcPr>
                    <a:solidFill>
                      <a:srgbClr val="FFFFFF"/>
                    </a:solidFill>
                  </a:tcPr>
                </a:tc>
                <a:tc>
                  <a:txBody>
                    <a:bodyPr/>
                    <a:lstStyle/>
                    <a:p>
                      <a:pPr>
                        <a:defRPr sz="1000">
                          <a:solidFill>
                            <a:srgbClr val="1A2421"/>
                          </a:solidFill>
                          <a:latin typeface="Segoe UI"/>
                        </a:defRPr>
                      </a:pPr>
                      <a:r>
                        <a:t>Tiền lương chính, phụ cấp độc hại, phụ cấp lưu động và các khoản trích BHXH, BHYT, KPCĐ, BHTN (23.5%) của lái xe máy kéo, lái xe tải, thợ cơ điện.</a:t>
                      </a:r>
                    </a:p>
                  </a:txBody>
                  <a:tcPr>
                    <a:solidFill>
                      <a:srgbClr val="FFFFFF"/>
                    </a:solidFill>
                  </a:tcPr>
                </a:tc>
                <a:tc>
                  <a:txBody>
                    <a:bodyPr/>
                    <a:lstStyle/>
                    <a:p>
                      <a:pPr>
                        <a:defRPr sz="1000">
                          <a:solidFill>
                            <a:srgbClr val="1A2421"/>
                          </a:solidFill>
                          <a:latin typeface="Segoe UI"/>
                        </a:defRPr>
                      </a:pPr>
                      <a:r>
                        <a:t>Giờ công lái máy / Định mức công nhật lao động.</a:t>
                      </a:r>
                    </a:p>
                  </a:txBody>
                  <a:tcPr>
                    <a:solidFill>
                      <a:srgbClr val="FFFFFF"/>
                    </a:solidFill>
                  </a:tcPr>
                </a:tc>
              </a:tr>
              <a:tr h="807720">
                <a:tc>
                  <a:txBody>
                    <a:bodyPr/>
                    <a:lstStyle/>
                    <a:p>
                      <a:pPr algn="ctr">
                        <a:defRPr sz="1000" b="1">
                          <a:solidFill>
                            <a:srgbClr val="123524"/>
                          </a:solidFill>
                          <a:latin typeface="Segoe UI"/>
                        </a:defRPr>
                      </a:pPr>
                      <a:r>
                        <a:t>TK 627</a:t>
                      </a:r>
                    </a:p>
                  </a:txBody>
                  <a:tcPr>
                    <a:solidFill>
                      <a:srgbClr val="EEF6F0"/>
                    </a:solidFill>
                  </a:tcPr>
                </a:tc>
                <a:tc>
                  <a:txBody>
                    <a:bodyPr/>
                    <a:lstStyle/>
                    <a:p>
                      <a:pPr>
                        <a:defRPr sz="1000">
                          <a:solidFill>
                            <a:srgbClr val="1A2421"/>
                          </a:solidFill>
                          <a:latin typeface="Segoe UI"/>
                        </a:defRPr>
                      </a:pPr>
                      <a:r>
                        <a:t>Chi phí sản xuất chung phân xưởng phụ</a:t>
                      </a:r>
                    </a:p>
                  </a:txBody>
                  <a:tcPr>
                    <a:solidFill>
                      <a:srgbClr val="EEF6F0"/>
                    </a:solidFill>
                  </a:tcPr>
                </a:tc>
                <a:tc>
                  <a:txBody>
                    <a:bodyPr/>
                    <a:lstStyle/>
                    <a:p>
                      <a:pPr>
                        <a:defRPr sz="1000">
                          <a:solidFill>
                            <a:srgbClr val="1A2421"/>
                          </a:solidFill>
                          <a:latin typeface="Segoe UI"/>
                        </a:defRPr>
                      </a:pPr>
                      <a:r>
                        <a:t>Lương quản đốc xưởng (6271), khấu hao máy móc công cụ nhà xưởng (6274), điện nước trạm bơm (6277), đồ nghề cơ lê mỏ lết (6273)...</a:t>
                      </a:r>
                    </a:p>
                  </a:txBody>
                  <a:tcPr>
                    <a:solidFill>
                      <a:srgbClr val="EEF6F0"/>
                    </a:solidFill>
                  </a:tcPr>
                </a:tc>
                <a:tc>
                  <a:txBody>
                    <a:bodyPr/>
                    <a:lstStyle/>
                    <a:p>
                      <a:pPr>
                        <a:defRPr sz="1000">
                          <a:solidFill>
                            <a:srgbClr val="1A2421"/>
                          </a:solidFill>
                          <a:latin typeface="Segoe UI"/>
                        </a:defRPr>
                      </a:pPr>
                      <a:r>
                        <a:t>Phân bổ theo giờ máy hoạt động hoặc CP nhân công.</a:t>
                      </a:r>
                    </a:p>
                  </a:txBody>
                  <a:tcPr>
                    <a:solidFill>
                      <a:srgbClr val="EEF6F0"/>
                    </a:solidFill>
                  </a:tcPr>
                </a:tc>
              </a:tr>
              <a:tr h="807720">
                <a:tc>
                  <a:txBody>
                    <a:bodyPr/>
                    <a:lstStyle/>
                    <a:p>
                      <a:pPr algn="ctr">
                        <a:defRPr sz="1000" b="1">
                          <a:solidFill>
                            <a:srgbClr val="123524"/>
                          </a:solidFill>
                          <a:latin typeface="Segoe UI"/>
                        </a:defRPr>
                      </a:pPr>
                      <a:r>
                        <a:t>TK 154</a:t>
                      </a:r>
                    </a:p>
                  </a:txBody>
                  <a:tcPr>
                    <a:solidFill>
                      <a:srgbClr val="FFFFFF"/>
                    </a:solidFill>
                  </a:tcPr>
                </a:tc>
                <a:tc>
                  <a:txBody>
                    <a:bodyPr/>
                    <a:lstStyle/>
                    <a:p>
                      <a:pPr>
                        <a:defRPr sz="1000">
                          <a:solidFill>
                            <a:srgbClr val="1A2421"/>
                          </a:solidFill>
                          <a:latin typeface="Segoe UI"/>
                        </a:defRPr>
                      </a:pPr>
                      <a:r>
                        <a:t>Chi phí sản xuất, kinh doanh dở dang</a:t>
                      </a:r>
                      <a:br/>
                      <a:r>
                        <a:t>(Mở chi tiết theo TT 99)</a:t>
                      </a:r>
                    </a:p>
                  </a:txBody>
                  <a:tcPr>
                    <a:solidFill>
                      <a:srgbClr val="FFFFFF"/>
                    </a:solidFill>
                  </a:tcPr>
                </a:tc>
                <a:tc>
                  <a:txBody>
                    <a:bodyPr/>
                    <a:lstStyle/>
                    <a:p>
                      <a:pPr>
                        <a:defRPr sz="1000">
                          <a:solidFill>
                            <a:srgbClr val="1A2421"/>
                          </a:solidFill>
                          <a:latin typeface="Segoe UI"/>
                        </a:defRPr>
                      </a:pPr>
                      <a:r>
                        <a:t>TK 1541: Đội Cơ giới nông nghiệp (Làm đất, gieo gặt)</a:t>
                      </a:r>
                      <a:br/>
                      <a:r>
                        <a:t>TK 1542: Đội Vận tải nông trường (Vận chuyển)</a:t>
                      </a:r>
                      <a:br/>
                      <a:r>
                        <a:t>TK 1543: Xưởng Cơ điện sửa chữa nông cụ</a:t>
                      </a:r>
                      <a:br/>
                      <a:r>
                        <a:t>TK 1544: Trạm Bơm nước tưới tiêu thủy nông</a:t>
                      </a:r>
                    </a:p>
                  </a:txBody>
                  <a:tcPr>
                    <a:solidFill>
                      <a:srgbClr val="FFFFFF"/>
                    </a:solidFill>
                  </a:tcPr>
                </a:tc>
                <a:tc>
                  <a:txBody>
                    <a:bodyPr/>
                    <a:lstStyle/>
                    <a:p>
                      <a:pPr>
                        <a:defRPr sz="1000">
                          <a:solidFill>
                            <a:srgbClr val="1A2421"/>
                          </a:solidFill>
                          <a:latin typeface="Segoe UI"/>
                        </a:defRPr>
                      </a:pPr>
                      <a:r>
                        <a:t>1541: 1 ha cày / 1 ha gặt</a:t>
                      </a:r>
                      <a:br/>
                      <a:r>
                        <a:t>1542: 1 Tấn.km / 1 chuyến</a:t>
                      </a:r>
                      <a:br/>
                      <a:r>
                        <a:t>1543: 1 giờ công sửa chữa</a:t>
                      </a:r>
                      <a:br/>
                      <a:r>
                        <a:t>1544: 1.000 m³ nước tưới</a:t>
                      </a:r>
                    </a:p>
                  </a:txBody>
                  <a:tcPr>
                    <a:solidFill>
                      <a:srgbClr val="FFFFFF"/>
                    </a:solidFill>
                  </a:tcPr>
                </a:tc>
              </a:tr>
              <a:tr h="807720">
                <a:tc>
                  <a:txBody>
                    <a:bodyPr/>
                    <a:lstStyle/>
                    <a:p>
                      <a:pPr algn="ctr">
                        <a:defRPr sz="1000" b="1">
                          <a:solidFill>
                            <a:srgbClr val="123524"/>
                          </a:solidFill>
                          <a:latin typeface="Segoe UI"/>
                        </a:defRPr>
                      </a:pPr>
                      <a:r>
                        <a:t>TK 632</a:t>
                      </a:r>
                    </a:p>
                  </a:txBody>
                  <a:tcPr>
                    <a:solidFill>
                      <a:srgbClr val="EEF6F0"/>
                    </a:solidFill>
                  </a:tcPr>
                </a:tc>
                <a:tc>
                  <a:txBody>
                    <a:bodyPr/>
                    <a:lstStyle/>
                    <a:p>
                      <a:pPr>
                        <a:defRPr sz="1000">
                          <a:solidFill>
                            <a:srgbClr val="1A2421"/>
                          </a:solidFill>
                          <a:latin typeface="Segoe UI"/>
                        </a:defRPr>
                      </a:pPr>
                      <a:r>
                        <a:t>Giá vốn hàng bán</a:t>
                      </a:r>
                      <a:br/>
                      <a:r>
                        <a:t>(Tiếp nhận CP không hợp lý)</a:t>
                      </a:r>
                    </a:p>
                  </a:txBody>
                  <a:tcPr>
                    <a:solidFill>
                      <a:srgbClr val="EEF6F0"/>
                    </a:solidFill>
                  </a:tcPr>
                </a:tc>
                <a:tc>
                  <a:txBody>
                    <a:bodyPr/>
                    <a:lstStyle/>
                    <a:p>
                      <a:pPr>
                        <a:defRPr sz="1000">
                          <a:solidFill>
                            <a:srgbClr val="1A2421"/>
                          </a:solidFill>
                          <a:latin typeface="Segoe UI"/>
                        </a:defRPr>
                      </a:pPr>
                      <a:r>
                        <a:t>Ghi nhận chi phí NVL vượt định mức (TK 621), nhân công lãng phí (TK 622), và ĐỊNH PHÍ SẢN XUẤT CHUNG không phân bổ do hoạt động dưới công suất mùa nông nhàn.</a:t>
                      </a:r>
                    </a:p>
                  </a:txBody>
                  <a:tcPr>
                    <a:solidFill>
                      <a:srgbClr val="EEF6F0"/>
                    </a:solidFill>
                  </a:tcPr>
                </a:tc>
                <a:tc>
                  <a:txBody>
                    <a:bodyPr/>
                    <a:lstStyle/>
                    <a:p>
                      <a:pPr>
                        <a:defRPr sz="1000">
                          <a:solidFill>
                            <a:srgbClr val="1A2421"/>
                          </a:solidFill>
                          <a:latin typeface="Segoe UI"/>
                        </a:defRPr>
                      </a:pPr>
                      <a:r>
                        <a:t>Kết chuyển trực tiếp xác định KQKD trong kỳ.</a:t>
                      </a:r>
                    </a:p>
                  </a:txBody>
                  <a:tcPr>
                    <a:solidFill>
                      <a:srgbClr val="EEF6F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IV: PHẦN HÀNH HẠCH TOÁN NGHIỆP VỤ</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05/10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Giai Đoạn 1: Hạch Toán Tập Hợp Chi Phí Phát Sinh Ban Đầu</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Ghi nhận chi phí trực tiếp và chi phí sản xuất chung tại các phân xưởng, tổ đội phụ</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3383280" cy="493776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280160"/>
            <a:ext cx="3383280" cy="502920"/>
          </a:xfrm>
          <a:prstGeom prst="rect">
            <a:avLst/>
          </a:prstGeom>
          <a:solidFill>
            <a:srgbClr val="0F5298"/>
          </a:solidFill>
          <a:ln>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100" b="1">
                <a:solidFill>
                  <a:srgbClr val="FFFFFF"/>
                </a:solidFill>
                <a:latin typeface="Segoe UI"/>
              </a:defRPr>
            </a:pPr>
            <a:r>
              <a:t>CHI PHÍ NGUYÊN VẬT LIỆU (TK 621)</a:t>
            </a:r>
          </a:p>
        </p:txBody>
      </p:sp>
      <p:sp>
        <p:nvSpPr>
          <p:cNvPr id="12" name="TextBox 11"/>
          <p:cNvSpPr txBox="1"/>
          <p:nvPr/>
        </p:nvSpPr>
        <p:spPr>
          <a:xfrm>
            <a:off x="868680" y="1874520"/>
            <a:ext cx="3108960" cy="4206240"/>
          </a:xfrm>
          <a:prstGeom prst="rect">
            <a:avLst/>
          </a:prstGeom>
          <a:noFill/>
        </p:spPr>
        <p:txBody>
          <a:bodyPr wrap="square">
            <a:spAutoFit/>
          </a:bodyPr>
          <a:lstStyle/>
          <a:p>
            <a:pPr>
              <a:defRPr sz="1000" b="1">
                <a:solidFill>
                  <a:srgbClr val="123524"/>
                </a:solidFill>
                <a:latin typeface="Segoe UI"/>
              </a:defRPr>
            </a:pPr>
            <a:r>
              <a:t>1. Xuất kho xăng dầu, mỡ bôi trơn:</a:t>
            </a:r>
          </a:p>
          <a:p>
            <a:pPr>
              <a:spcAft>
                <a:spcPts val="700"/>
              </a:spcAft>
              <a:defRPr sz="900">
                <a:solidFill>
                  <a:srgbClr val="1A2421"/>
                </a:solidFill>
                <a:latin typeface="Consolas"/>
              </a:defRPr>
            </a:pPr>
            <a:r>
              <a:t>Nợ TK 621 (chi tiết Đội cơ giới, Xe tải)</a:t>
            </a:r>
            <a:br/>
            <a:r>
              <a:t>  Có TK 152 (1521, 1522: Nhiên liệu)</a:t>
            </a:r>
          </a:p>
          <a:p>
            <a:pPr>
              <a:defRPr sz="1000" b="1">
                <a:solidFill>
                  <a:srgbClr val="123524"/>
                </a:solidFill>
                <a:latin typeface="Segoe UI"/>
              </a:defRPr>
            </a:pPr>
            <a:r>
              <a:t>2. Mua xăng dầu dùng ngay không qua kho:</a:t>
            </a:r>
          </a:p>
          <a:p>
            <a:pPr>
              <a:spcAft>
                <a:spcPts val="700"/>
              </a:spcAft>
              <a:defRPr sz="900">
                <a:solidFill>
                  <a:srgbClr val="1A2421"/>
                </a:solidFill>
                <a:latin typeface="Consolas"/>
              </a:defRPr>
            </a:pPr>
            <a:r>
              <a:t>Nợ TK 621 (Chi phí nhiên liệu chưa thuế)</a:t>
            </a:r>
            <a:br/>
            <a:r>
              <a:t>Nợ TK 133 (Thuế GTGT đầu vào nếu có)</a:t>
            </a:r>
            <a:br/>
            <a:r>
              <a:t>  Có TK 111, 112, 331</a:t>
            </a:r>
          </a:p>
          <a:p>
            <a:pPr>
              <a:defRPr sz="1000" b="1">
                <a:solidFill>
                  <a:srgbClr val="123524"/>
                </a:solidFill>
                <a:latin typeface="Segoe UI"/>
              </a:defRPr>
            </a:pPr>
            <a:r>
              <a:t>3. Xuất phụ tùng thay thế sửa chữa nhỏ:</a:t>
            </a:r>
          </a:p>
          <a:p>
            <a:pPr>
              <a:spcAft>
                <a:spcPts val="700"/>
              </a:spcAft>
              <a:defRPr sz="900">
                <a:solidFill>
                  <a:srgbClr val="1A2421"/>
                </a:solidFill>
                <a:latin typeface="Consolas"/>
              </a:defRPr>
            </a:pPr>
            <a:r>
              <a:t>Nợ TK 621 (Chi tiết Xưởng cơ điện)</a:t>
            </a:r>
            <a:br/>
            <a:r>
              <a:t>  Có TK 152 (Phụ tùng, săm lốp, que hàn)</a:t>
            </a:r>
          </a:p>
          <a:p>
            <a:pPr>
              <a:defRPr sz="1000" b="1">
                <a:solidFill>
                  <a:srgbClr val="123524"/>
                </a:solidFill>
                <a:latin typeface="Segoe UI"/>
              </a:defRPr>
            </a:pPr>
            <a:r>
              <a:t>4. Lưu ý Thông tư 99:</a:t>
            </a:r>
          </a:p>
          <a:p>
            <a:pPr>
              <a:spcAft>
                <a:spcPts val="700"/>
              </a:spcAft>
              <a:defRPr sz="900">
                <a:solidFill>
                  <a:srgbClr val="1A2421"/>
                </a:solidFill>
                <a:latin typeface="Consolas"/>
              </a:defRPr>
            </a:pPr>
            <a:r>
              <a:t>Vật tư dùng không hết cuối kỳ phải lập phiếu nhập lại kho hoặc trừ vào chi phí kỳ sau.</a:t>
            </a:r>
          </a:p>
        </p:txBody>
      </p:sp>
      <p:sp>
        <p:nvSpPr>
          <p:cNvPr id="13" name="Rounded Rectangle 12"/>
          <p:cNvSpPr/>
          <p:nvPr/>
        </p:nvSpPr>
        <p:spPr>
          <a:xfrm>
            <a:off x="4389120" y="1280160"/>
            <a:ext cx="3383280" cy="493776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280160"/>
            <a:ext cx="3383280" cy="502920"/>
          </a:xfrm>
          <a:prstGeom prst="rect">
            <a:avLst/>
          </a:prstGeom>
          <a:solidFill>
            <a:srgbClr val="227045"/>
          </a:solidFill>
          <a:ln>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100" b="1">
                <a:solidFill>
                  <a:srgbClr val="FFFFFF"/>
                </a:solidFill>
                <a:latin typeface="Segoe UI"/>
              </a:defRPr>
            </a:pPr>
            <a:r>
              <a:t>CHI PHÍ NHÂN CÔNG TRỰC TIẾP (TK 622)</a:t>
            </a:r>
          </a:p>
        </p:txBody>
      </p:sp>
      <p:sp>
        <p:nvSpPr>
          <p:cNvPr id="15" name="TextBox 14"/>
          <p:cNvSpPr txBox="1"/>
          <p:nvPr/>
        </p:nvSpPr>
        <p:spPr>
          <a:xfrm>
            <a:off x="4526280" y="1874520"/>
            <a:ext cx="3108960" cy="4206240"/>
          </a:xfrm>
          <a:prstGeom prst="rect">
            <a:avLst/>
          </a:prstGeom>
          <a:noFill/>
        </p:spPr>
        <p:txBody>
          <a:bodyPr wrap="square">
            <a:spAutoFit/>
          </a:bodyPr>
          <a:lstStyle/>
          <a:p>
            <a:pPr>
              <a:defRPr sz="1000" b="1">
                <a:solidFill>
                  <a:srgbClr val="123524"/>
                </a:solidFill>
                <a:latin typeface="Segoe UI"/>
              </a:defRPr>
            </a:pPr>
            <a:r>
              <a:t>1. Tính tiền lương phải trả lái máy, thợ máy:</a:t>
            </a:r>
          </a:p>
          <a:p>
            <a:pPr>
              <a:spcAft>
                <a:spcPts val="700"/>
              </a:spcAft>
              <a:defRPr sz="900">
                <a:solidFill>
                  <a:srgbClr val="1A2421"/>
                </a:solidFill>
                <a:latin typeface="Consolas"/>
              </a:defRPr>
            </a:pPr>
            <a:r>
              <a:t>Nợ TK 622 (chi tiết lái máy cày, thợ cơ điện)</a:t>
            </a:r>
            <a:br/>
            <a:r>
              <a:t>  Có TK 334 (Phải trả người lao động)</a:t>
            </a:r>
          </a:p>
          <a:p>
            <a:pPr>
              <a:defRPr sz="1000" b="1">
                <a:solidFill>
                  <a:srgbClr val="123524"/>
                </a:solidFill>
                <a:latin typeface="Segoe UI"/>
              </a:defRPr>
            </a:pPr>
            <a:r>
              <a:t>2. Trích bảo hiểm &amp; kinh phí công đoàn:</a:t>
            </a:r>
          </a:p>
          <a:p>
            <a:pPr>
              <a:spcAft>
                <a:spcPts val="700"/>
              </a:spcAft>
              <a:defRPr sz="900">
                <a:solidFill>
                  <a:srgbClr val="1A2421"/>
                </a:solidFill>
                <a:latin typeface="Consolas"/>
              </a:defRPr>
            </a:pPr>
            <a:r>
              <a:t>Nợ TK 622 (23.5% trích tính vào chi phí DN)</a:t>
            </a:r>
            <a:br/>
            <a:r>
              <a:t>  Có TK 338 (3382, 3383, 3384, 3386)</a:t>
            </a:r>
          </a:p>
          <a:p>
            <a:pPr>
              <a:defRPr sz="1000" b="1">
                <a:solidFill>
                  <a:srgbClr val="123524"/>
                </a:solidFill>
                <a:latin typeface="Segoe UI"/>
              </a:defRPr>
            </a:pPr>
            <a:r>
              <a:t>3. Phụ cấp lưu động nông trường:</a:t>
            </a:r>
          </a:p>
          <a:p>
            <a:pPr>
              <a:spcAft>
                <a:spcPts val="700"/>
              </a:spcAft>
              <a:defRPr sz="900">
                <a:solidFill>
                  <a:srgbClr val="1A2421"/>
                </a:solidFill>
                <a:latin typeface="Consolas"/>
              </a:defRPr>
            </a:pPr>
            <a:r>
              <a:t>Nợ TK 622 (Phụ cấp làm việc ngoài đồng xa)</a:t>
            </a:r>
            <a:br/>
            <a:r>
              <a:t>  Có TK 334</a:t>
            </a:r>
          </a:p>
          <a:p>
            <a:pPr>
              <a:defRPr sz="1000" b="1">
                <a:solidFill>
                  <a:srgbClr val="123524"/>
                </a:solidFill>
                <a:latin typeface="Segoe UI"/>
              </a:defRPr>
            </a:pPr>
            <a:r>
              <a:t>4. Lưu ý Thông tư 99:</a:t>
            </a:r>
          </a:p>
          <a:p>
            <a:pPr>
              <a:spcAft>
                <a:spcPts val="700"/>
              </a:spcAft>
              <a:defRPr sz="900">
                <a:solidFill>
                  <a:srgbClr val="1A2421"/>
                </a:solidFill>
                <a:latin typeface="Consolas"/>
              </a:defRPr>
            </a:pPr>
            <a:r>
              <a:t>Phân tách rõ lương lái máy cày (TK 622) với lương quản đốc đội cơ giới (TK 6271).</a:t>
            </a:r>
          </a:p>
        </p:txBody>
      </p:sp>
      <p:sp>
        <p:nvSpPr>
          <p:cNvPr id="16" name="Rounded Rectangle 15"/>
          <p:cNvSpPr/>
          <p:nvPr/>
        </p:nvSpPr>
        <p:spPr>
          <a:xfrm>
            <a:off x="8046720" y="1280160"/>
            <a:ext cx="3383280" cy="4937760"/>
          </a:xfrm>
          <a:prstGeom prst="roundRect">
            <a:avLst/>
          </a:prstGeom>
          <a:solidFill>
            <a:srgbClr val="EEF6F0"/>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280160"/>
            <a:ext cx="3383280" cy="502920"/>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100" b="1">
                <a:solidFill>
                  <a:srgbClr val="FFFFFF"/>
                </a:solidFill>
                <a:latin typeface="Segoe UI"/>
              </a:defRPr>
            </a:pPr>
            <a:r>
              <a:t>CHI PHÍ SẢN XUẤT CHUNG (TK 627)</a:t>
            </a:r>
          </a:p>
        </p:txBody>
      </p:sp>
      <p:sp>
        <p:nvSpPr>
          <p:cNvPr id="18" name="TextBox 17"/>
          <p:cNvSpPr txBox="1"/>
          <p:nvPr/>
        </p:nvSpPr>
        <p:spPr>
          <a:xfrm>
            <a:off x="8183880" y="1874520"/>
            <a:ext cx="3108960" cy="4206240"/>
          </a:xfrm>
          <a:prstGeom prst="rect">
            <a:avLst/>
          </a:prstGeom>
          <a:noFill/>
        </p:spPr>
        <p:txBody>
          <a:bodyPr wrap="square">
            <a:spAutoFit/>
          </a:bodyPr>
          <a:lstStyle/>
          <a:p>
            <a:pPr>
              <a:defRPr sz="1000" b="1">
                <a:solidFill>
                  <a:srgbClr val="123524"/>
                </a:solidFill>
                <a:latin typeface="Segoe UI"/>
              </a:defRPr>
            </a:pPr>
            <a:r>
              <a:t>1. Lương quản đốc, thủ kho đội phụ:</a:t>
            </a:r>
          </a:p>
          <a:p>
            <a:pPr>
              <a:spcAft>
                <a:spcPts val="700"/>
              </a:spcAft>
              <a:defRPr sz="900">
                <a:solidFill>
                  <a:srgbClr val="1A2421"/>
                </a:solidFill>
                <a:latin typeface="Consolas"/>
              </a:defRPr>
            </a:pPr>
            <a:r>
              <a:t>Nợ TK 6271 / Có TK 334, 338</a:t>
            </a:r>
          </a:p>
          <a:p>
            <a:pPr>
              <a:defRPr sz="1000" b="1">
                <a:solidFill>
                  <a:srgbClr val="123524"/>
                </a:solidFill>
                <a:latin typeface="Segoe UI"/>
              </a:defRPr>
            </a:pPr>
            <a:r>
              <a:t>2. Trích khấu hao máy cày, xe tải, trạm bơm:</a:t>
            </a:r>
          </a:p>
          <a:p>
            <a:pPr>
              <a:spcAft>
                <a:spcPts val="700"/>
              </a:spcAft>
              <a:defRPr sz="900">
                <a:solidFill>
                  <a:srgbClr val="1A2421"/>
                </a:solidFill>
                <a:latin typeface="Consolas"/>
              </a:defRPr>
            </a:pPr>
            <a:r>
              <a:t>Nợ TK 6274 (Khấu hao TSCĐ)</a:t>
            </a:r>
            <a:br/>
            <a:r>
              <a:t>  Có TK 214 (Hao mòn TSCĐ hữu hình)</a:t>
            </a:r>
          </a:p>
          <a:p>
            <a:pPr>
              <a:defRPr sz="1000" b="1">
                <a:solidFill>
                  <a:srgbClr val="123524"/>
                </a:solidFill>
                <a:latin typeface="Segoe UI"/>
              </a:defRPr>
            </a:pPr>
            <a:r>
              <a:t>3. Điện bơm nước, dịch vụ mua ngoài:</a:t>
            </a:r>
          </a:p>
          <a:p>
            <a:pPr>
              <a:spcAft>
                <a:spcPts val="700"/>
              </a:spcAft>
              <a:defRPr sz="900">
                <a:solidFill>
                  <a:srgbClr val="1A2421"/>
                </a:solidFill>
                <a:latin typeface="Consolas"/>
              </a:defRPr>
            </a:pPr>
            <a:r>
              <a:t>Nợ TK 6277 / Nợ TK 133</a:t>
            </a:r>
            <a:br/>
            <a:r>
              <a:t>  Có TK 112, 331</a:t>
            </a:r>
          </a:p>
          <a:p>
            <a:pPr>
              <a:defRPr sz="1000" b="1">
                <a:solidFill>
                  <a:srgbClr val="123524"/>
                </a:solidFill>
                <a:latin typeface="Segoe UI"/>
              </a:defRPr>
            </a:pPr>
            <a:r>
              <a:t>4. Phân bổ công cụ đồ nghề dùng nhiều kỳ:</a:t>
            </a:r>
          </a:p>
          <a:p>
            <a:pPr>
              <a:spcAft>
                <a:spcPts val="700"/>
              </a:spcAft>
              <a:defRPr sz="900">
                <a:solidFill>
                  <a:srgbClr val="1A2421"/>
                </a:solidFill>
                <a:latin typeface="Consolas"/>
              </a:defRPr>
            </a:pPr>
            <a:r>
              <a:t>Nợ TK 6273 / Có TK 242 (Chi phí trả trước)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IV: PHẦN HÀNH HẠCH TOÁN NGHIỆP VỤ</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06/10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Giai Đoạn 2: Kỹ Thuật Kết Chuyển Sang TK 154 &amp; Xử Lý TT 99</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Quy trình tổng hợp chi phí, loại trừ lãng phí và phân bổ định phí sản xuất chung mùa nông nhàn</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6858000" cy="4937760"/>
          </a:xfrm>
          <a:prstGeom prst="roundRect">
            <a:avLst/>
          </a:prstGeom>
          <a:solidFill>
            <a:srgbClr val="EEF6F0"/>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6492240" cy="4663440"/>
          </a:xfrm>
          <a:prstGeom prst="rect">
            <a:avLst/>
          </a:prstGeom>
          <a:noFill/>
        </p:spPr>
        <p:txBody>
          <a:bodyPr wrap="square">
            <a:spAutoFit/>
          </a:bodyPr>
          <a:lstStyle/>
          <a:p>
            <a:pPr>
              <a:spcAft>
                <a:spcPts val="1000"/>
              </a:spcAft>
              <a:defRPr sz="1350" b="1">
                <a:solidFill>
                  <a:srgbClr val="123524"/>
                </a:solidFill>
                <a:latin typeface="Segoe UI"/>
              </a:defRPr>
            </a:pPr>
            <a:r>
              <a:t>Quy Trình Định Khoản Kết Chuyển Cuối Kỳ (TK 621, 622, 627 -&gt; TK 154)</a:t>
            </a:r>
          </a:p>
          <a:p>
            <a:pPr>
              <a:defRPr sz="1100" b="1">
                <a:solidFill>
                  <a:srgbClr val="123524"/>
                </a:solidFill>
                <a:latin typeface="Segoe UI"/>
              </a:defRPr>
            </a:pPr>
            <a:r>
              <a:t>1. Kết chuyển Chi phí NVL trực tiếp (TK 621):</a:t>
            </a:r>
          </a:p>
          <a:p>
            <a:pPr>
              <a:spcAft>
                <a:spcPts val="800"/>
              </a:spcAft>
              <a:defRPr sz="950">
                <a:solidFill>
                  <a:srgbClr val="1A2421"/>
                </a:solidFill>
                <a:latin typeface="Consolas"/>
              </a:defRPr>
            </a:pPr>
            <a:r>
              <a:t>Nợ TK 154 - Chi phí SXKD dở dang (chi phí trong định mức)</a:t>
            </a:r>
            <a:br/>
            <a:r>
              <a:t>Nợ TK 632 - Giá vốn hàng bán (phần chi phí NVL vượt định mức do lãng phí/rò rỉ dầu)</a:t>
            </a:r>
            <a:br/>
            <a:r>
              <a:t>    Có TK 621 - Chi phí nguyên liệu, vật liệu trực tiếp (tổng chi phí phát sinh)</a:t>
            </a:r>
          </a:p>
          <a:p>
            <a:pPr>
              <a:defRPr sz="1100" b="1">
                <a:solidFill>
                  <a:srgbClr val="123524"/>
                </a:solidFill>
                <a:latin typeface="Segoe UI"/>
              </a:defRPr>
            </a:pPr>
            <a:r>
              <a:t>2. Kết chuyển Chi phí Nhân công trực tiếp (TK 622):</a:t>
            </a:r>
          </a:p>
          <a:p>
            <a:pPr>
              <a:spcAft>
                <a:spcPts val="800"/>
              </a:spcAft>
              <a:defRPr sz="950">
                <a:solidFill>
                  <a:srgbClr val="1A2421"/>
                </a:solidFill>
                <a:latin typeface="Consolas"/>
              </a:defRPr>
            </a:pPr>
            <a:r>
              <a:t>Nợ TK 154 - Chi phí SXKD dở dang (chi phí nhân công bình thường hợp lý)</a:t>
            </a:r>
            <a:br/>
            <a:r>
              <a:t>Nợ TK 632 - Giá vốn hàng bán (chi phí nhân công vượt định mức/thời gian ngừng việc bất thường)</a:t>
            </a:r>
            <a:br/>
            <a:r>
              <a:t>    Có TK 622 - Chi phí nhân công trực tiếp</a:t>
            </a:r>
          </a:p>
          <a:p>
            <a:pPr>
              <a:defRPr sz="1100" b="1">
                <a:solidFill>
                  <a:srgbClr val="123524"/>
                </a:solidFill>
                <a:latin typeface="Segoe UI"/>
              </a:defRPr>
            </a:pPr>
            <a:r>
              <a:t>3. Phân bổ &amp; Kết chuyển Chi phí Sản xuất chung (TK 627) theo TT 99:</a:t>
            </a:r>
          </a:p>
          <a:p>
            <a:pPr>
              <a:spcAft>
                <a:spcPts val="800"/>
              </a:spcAft>
              <a:defRPr sz="950">
                <a:solidFill>
                  <a:srgbClr val="1A2421"/>
                </a:solidFill>
                <a:latin typeface="Consolas"/>
              </a:defRPr>
            </a:pPr>
            <a:r>
              <a:t>Nợ TK 154 - Chi phí SXKD dở dang (Toàn bộ biến phí SXC + Định phí SXC phân bổ theo công suất)</a:t>
            </a:r>
            <a:br/>
            <a:r>
              <a:t>Nợ TK 632 - Giá vốn hàng bán (Định phí SXC KHÔNG phân bổ do máy nghỉ mùa nông nhàn)</a:t>
            </a:r>
            <a:br/>
            <a:r>
              <a:t>    Có TK 627 - Chi phí sản xuất chung (tổng chi phí tập hợp trong kỳ)</a:t>
            </a:r>
          </a:p>
        </p:txBody>
      </p:sp>
      <p:sp>
        <p:nvSpPr>
          <p:cNvPr id="12" name="Rounded Rectangle 11"/>
          <p:cNvSpPr/>
          <p:nvPr/>
        </p:nvSpPr>
        <p:spPr>
          <a:xfrm>
            <a:off x="7863840" y="1280160"/>
            <a:ext cx="3566160" cy="4937760"/>
          </a:xfrm>
          <a:prstGeom prst="roundRect">
            <a:avLst/>
          </a:prstGeom>
          <a:solidFill>
            <a:srgbClr val="F5F9F6"/>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417320"/>
            <a:ext cx="3200400" cy="4663440"/>
          </a:xfrm>
          <a:prstGeom prst="rect">
            <a:avLst/>
          </a:prstGeom>
          <a:noFill/>
        </p:spPr>
        <p:txBody>
          <a:bodyPr wrap="square">
            <a:spAutoFit/>
          </a:bodyPr>
          <a:lstStyle/>
          <a:p>
            <a:pPr>
              <a:spcAft>
                <a:spcPts val="800"/>
              </a:spcAft>
              <a:defRPr sz="1200" b="1">
                <a:solidFill>
                  <a:srgbClr val="D48F18"/>
                </a:solidFill>
                <a:latin typeface="Segoe UI"/>
              </a:defRPr>
            </a:pPr>
            <a:r>
              <a:t>ĐIỂM NHẤN QUẢN TRỊ TT 99</a:t>
            </a:r>
          </a:p>
          <a:p>
            <a:pPr>
              <a:defRPr sz="1050" b="1">
                <a:solidFill>
                  <a:srgbClr val="123524"/>
                </a:solidFill>
                <a:latin typeface="Segoe UI"/>
              </a:defRPr>
            </a:pPr>
            <a:r>
              <a:t>Nguyên tắc Công suất bình thường:</a:t>
            </a:r>
          </a:p>
          <a:p>
            <a:pPr>
              <a:spcAft>
                <a:spcPts val="1000"/>
              </a:spcAft>
              <a:defRPr sz="950">
                <a:solidFill>
                  <a:srgbClr val="1A2421"/>
                </a:solidFill>
                <a:latin typeface="Segoe UI"/>
              </a:defRPr>
            </a:pPr>
            <a:r>
              <a:t>Mùa mưa/nông nhàn: Đội máy kéo chỉ hoạt động 40% công suất thiết kế. Kế toán KHÔNG ĐƯỢC dồn toàn bộ 100% khấu hao vào giá thành số ít ha cày cấy, mà phải tách 60% khấu hao cố định đưa thẳng vào TK 632.</a:t>
            </a:r>
          </a:p>
          <a:p>
            <a:pPr>
              <a:defRPr sz="1050" b="1">
                <a:solidFill>
                  <a:srgbClr val="123524"/>
                </a:solidFill>
                <a:latin typeface="Segoe UI"/>
              </a:defRPr>
            </a:pPr>
            <a:r>
              <a:t>Bút toán giảm trừ chi phí SXKD dở dang:</a:t>
            </a:r>
          </a:p>
          <a:p>
            <a:pPr>
              <a:spcAft>
                <a:spcPts val="1000"/>
              </a:spcAft>
              <a:defRPr sz="950">
                <a:solidFill>
                  <a:srgbClr val="1A2421"/>
                </a:solidFill>
                <a:latin typeface="Segoe UI"/>
              </a:defRPr>
            </a:pPr>
            <a:r>
              <a:t>• Thu hồi phụ tùng phế liệu nhập kho:</a:t>
            </a:r>
            <a:br/>
            <a:r>
              <a:t>  Nợ TK 152 / Có TK 154</a:t>
            </a:r>
            <a:br/>
            <a:r>
              <a:t>• Bồi thường làm hỏng phụ tùng do lỗi chủ quan:</a:t>
            </a:r>
            <a:br/>
            <a:r>
              <a:t>  Nợ TK 1388, 334 / Có TK 154</a:t>
            </a:r>
            <a:br/>
            <a:r>
              <a:t>• Chiết khấu thương mại xăng dầu được hưởng:</a:t>
            </a:r>
            <a:br/>
            <a:r>
              <a:t>  Nợ TK 111, 112, 331 / Có TK 154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V: PHƯƠNG PHÁP TÍNH GIÁ THÀNH</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07/10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Tính Giá Thành &amp; Giải Bài Toán Phục Vụ Lẫn Nhau</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Xác định giá thành đơn vị và phân bổ chi phí dịch vụ giữa các bộ phận phụ trợ đan xen</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10728655" cy="1188720"/>
          </a:xfrm>
          <a:prstGeom prst="roundRect">
            <a:avLst/>
          </a:prstGeom>
          <a:solidFill>
            <a:srgbClr val="FEF9E7"/>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325880"/>
            <a:ext cx="10332720" cy="1051560"/>
          </a:xfrm>
          <a:prstGeom prst="rect">
            <a:avLst/>
          </a:prstGeom>
          <a:noFill/>
        </p:spPr>
        <p:txBody>
          <a:bodyPr wrap="square">
            <a:spAutoFit/>
          </a:bodyPr>
          <a:lstStyle/>
          <a:p>
            <a:pPr>
              <a:defRPr sz="1150" b="1">
                <a:solidFill>
                  <a:srgbClr val="D48F18"/>
                </a:solidFill>
                <a:latin typeface="Segoe UI"/>
              </a:defRPr>
            </a:pPr>
            <a:r>
              <a:t>CÔNG THỨC XÁC ĐỊNH GIÁ THÀNH ĐƠN VỊ SẢN PHẨM / LAO VỤ PHỤ</a:t>
            </a:r>
          </a:p>
          <a:p>
            <a:pPr>
              <a:defRPr sz="1100" b="1">
                <a:solidFill>
                  <a:srgbClr val="123524"/>
                </a:solidFill>
                <a:latin typeface="Consolas"/>
              </a:defRPr>
            </a:pPr>
            <a:r>
              <a:t>Giá thành đơn vị (Zđv) = [ Chi phí SXKD dở dang đầu kỳ (Dđ) + Tổng CP phát sinh trong kỳ - Chi phí giảm trừ - CP dở dang cuối kỳ (Dc) ] / Khối lượng hoàn thành (Q)</a:t>
            </a:r>
          </a:p>
          <a:p>
            <a:pPr>
              <a:defRPr sz="950">
                <a:solidFill>
                  <a:srgbClr val="5F6C66"/>
                </a:solidFill>
                <a:latin typeface="Segoe UI"/>
              </a:defRPr>
            </a:pPr>
            <a:r>
              <a:t>(*) Lưu ý đặc thù nông nghiệp: Các dịch vụ như làm đất, bơm nước, vận tải thường không có dở dang đầu kỳ và cuối kỳ (Dđ = Dc = 0) do hoàn thành và tiêu dùng ngay.</a:t>
            </a:r>
          </a:p>
        </p:txBody>
      </p:sp>
      <p:sp>
        <p:nvSpPr>
          <p:cNvPr id="12" name="Rounded Rectangle 11"/>
          <p:cNvSpPr/>
          <p:nvPr/>
        </p:nvSpPr>
        <p:spPr>
          <a:xfrm>
            <a:off x="731520" y="2651760"/>
            <a:ext cx="5212080" cy="3566160"/>
          </a:xfrm>
          <a:prstGeom prst="roundRect">
            <a:avLst/>
          </a:prstGeom>
          <a:solidFill>
            <a:srgbClr val="EEF6F0"/>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88920"/>
            <a:ext cx="4846320" cy="3291840"/>
          </a:xfrm>
          <a:prstGeom prst="rect">
            <a:avLst/>
          </a:prstGeom>
          <a:noFill/>
        </p:spPr>
        <p:txBody>
          <a:bodyPr wrap="square">
            <a:spAutoFit/>
          </a:bodyPr>
          <a:lstStyle/>
          <a:p>
            <a:pPr>
              <a:spcAft>
                <a:spcPts val="600"/>
              </a:spcAft>
              <a:defRPr sz="1200" b="1">
                <a:solidFill>
                  <a:srgbClr val="123524"/>
                </a:solidFill>
                <a:latin typeface="Segoe UI"/>
              </a:defRPr>
            </a:pPr>
            <a:r>
              <a:t>Cách 1: Phương Pháp Đại Số (Chính xác tuyệt đối)</a:t>
            </a:r>
          </a:p>
          <a:p>
            <a:pPr>
              <a:defRPr sz="1000" b="1">
                <a:solidFill>
                  <a:srgbClr val="123524"/>
                </a:solidFill>
                <a:latin typeface="Segoe UI"/>
              </a:defRPr>
            </a:pPr>
            <a:r>
              <a:t>Bản chất:</a:t>
            </a:r>
          </a:p>
          <a:p>
            <a:pPr>
              <a:spcAft>
                <a:spcPts val="600"/>
              </a:spcAft>
              <a:defRPr sz="950">
                <a:solidFill>
                  <a:srgbClr val="1A2421"/>
                </a:solidFill>
                <a:latin typeface="Segoe UI"/>
              </a:defRPr>
            </a:pPr>
            <a:r>
              <a:t>Thiết lập hệ phương trình toán học phản ánh đầy đủ mối quan hệ phục vụ 2 chiều.</a:t>
            </a:r>
          </a:p>
          <a:p>
            <a:pPr>
              <a:defRPr sz="1000" b="1">
                <a:solidFill>
                  <a:srgbClr val="123524"/>
                </a:solidFill>
                <a:latin typeface="Segoe UI"/>
              </a:defRPr>
            </a:pPr>
            <a:r>
              <a:t>Hệ phương trình mẫu (2 phân xưởng Cơ điện &amp; Vận tải):</a:t>
            </a:r>
          </a:p>
          <a:p>
            <a:pPr>
              <a:spcAft>
                <a:spcPts val="600"/>
              </a:spcAft>
              <a:defRPr sz="950">
                <a:solidFill>
                  <a:srgbClr val="1A2421"/>
                </a:solidFill>
                <a:latin typeface="Segoe UI"/>
              </a:defRPr>
            </a:pPr>
            <a:r>
              <a:t>Gọi z₁ là giá thành 1 giờ sửa chữa, z₂ là giá thành 1 tấn.km xe tải:</a:t>
            </a:r>
            <a:br/>
            <a:r>
              <a:t>  Z₁ = CP ban đầu (1) + Q₂₁ × z₂</a:t>
            </a:r>
            <a:br/>
            <a:r>
              <a:t>  Z₂ = CP ban đầu (2) + Q₁₂ × z₁</a:t>
            </a:r>
            <a:br/>
            <a:r>
              <a:t>  (Trong đó Q₂₁, Q₁₂ là khối lượng phục vụ lẫn nhau).</a:t>
            </a:r>
          </a:p>
          <a:p>
            <a:pPr>
              <a:defRPr sz="1000" b="1">
                <a:solidFill>
                  <a:srgbClr val="123524"/>
                </a:solidFill>
                <a:latin typeface="Segoe UI"/>
              </a:defRPr>
            </a:pPr>
            <a:r>
              <a:t>Ưu - Nhược điểm:</a:t>
            </a:r>
          </a:p>
          <a:p>
            <a:pPr>
              <a:spcAft>
                <a:spcPts val="600"/>
              </a:spcAft>
              <a:defRPr sz="950">
                <a:solidFill>
                  <a:srgbClr val="1A2421"/>
                </a:solidFill>
                <a:latin typeface="Segoe UI"/>
              </a:defRPr>
            </a:pPr>
            <a:r>
              <a:t>Chính xác tuyệt đối 100%, phản ánh đúng chi phí thực tế nhưng đòi hỏi phần mềm kế toán tự động giải hệ phương trình.</a:t>
            </a:r>
          </a:p>
        </p:txBody>
      </p:sp>
      <p:sp>
        <p:nvSpPr>
          <p:cNvPr id="14" name="Rounded Rectangle 13"/>
          <p:cNvSpPr/>
          <p:nvPr/>
        </p:nvSpPr>
        <p:spPr>
          <a:xfrm>
            <a:off x="6217920" y="2651760"/>
            <a:ext cx="5212080" cy="3566160"/>
          </a:xfrm>
          <a:prstGeom prst="roundRect">
            <a:avLst/>
          </a:prstGeom>
          <a:solidFill>
            <a:srgbClr val="F5F9F6"/>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846320" cy="3291840"/>
          </a:xfrm>
          <a:prstGeom prst="rect">
            <a:avLst/>
          </a:prstGeom>
          <a:noFill/>
        </p:spPr>
        <p:txBody>
          <a:bodyPr wrap="square">
            <a:spAutoFit/>
          </a:bodyPr>
          <a:lstStyle/>
          <a:p>
            <a:pPr>
              <a:spcAft>
                <a:spcPts val="600"/>
              </a:spcAft>
              <a:defRPr sz="1200" b="1">
                <a:solidFill>
                  <a:srgbClr val="123524"/>
                </a:solidFill>
                <a:latin typeface="Segoe UI"/>
              </a:defRPr>
            </a:pPr>
            <a:r>
              <a:t>Cách 2: Phương Pháp Chi Phí Chuẩn / Kế Hoạch (Khuyên dùng TT 99)</a:t>
            </a:r>
          </a:p>
          <a:p>
            <a:pPr>
              <a:defRPr sz="1000" b="1">
                <a:solidFill>
                  <a:srgbClr val="123524"/>
                </a:solidFill>
                <a:latin typeface="Segoe UI"/>
              </a:defRPr>
            </a:pPr>
            <a:r>
              <a:t>Bản chất:</a:t>
            </a:r>
          </a:p>
          <a:p>
            <a:pPr>
              <a:spcAft>
                <a:spcPts val="600"/>
              </a:spcAft>
              <a:defRPr sz="950">
                <a:solidFill>
                  <a:srgbClr val="1A2421"/>
                </a:solidFill>
                <a:latin typeface="Segoe UI"/>
              </a:defRPr>
            </a:pPr>
            <a:r>
              <a:t>Sử dụng đơn giá định mức/kế hoạch đã xây dựng đầu năm để tính chuyển giao lao vụ phục vụ qua lại ngay khi phát sinh.</a:t>
            </a:r>
          </a:p>
          <a:p>
            <a:pPr>
              <a:defRPr sz="1000" b="1">
                <a:solidFill>
                  <a:srgbClr val="123524"/>
                </a:solidFill>
                <a:latin typeface="Segoe UI"/>
              </a:defRPr>
            </a:pPr>
            <a:r>
              <a:t>Quy trình thực hiện:</a:t>
            </a:r>
          </a:p>
          <a:p>
            <a:pPr>
              <a:spcAft>
                <a:spcPts val="600"/>
              </a:spcAft>
              <a:defRPr sz="950">
                <a:solidFill>
                  <a:srgbClr val="1A2421"/>
                </a:solidFill>
                <a:latin typeface="Segoe UI"/>
              </a:defRPr>
            </a:pPr>
            <a:r>
              <a:t>① Các đội phụ thanh toán lao vụ cho nhau theo ĐƠN GIÁ KẾ HOẠCH;</a:t>
            </a:r>
            <a:br/>
            <a:r>
              <a:t>② Phần lao vụ cung cấp cho sản xuất chính tính theo GIÁ THỰC TẾ sau khi đã cộng/trừ chi phí phục vụ nội bộ;</a:t>
            </a:r>
            <a:br/>
            <a:r>
              <a:t>③ Chênh lệch giá thành kế hoạch và thực tế được xử lý phân bổ cuối kỳ.</a:t>
            </a:r>
          </a:p>
          <a:p>
            <a:pPr>
              <a:defRPr sz="1000" b="1">
                <a:solidFill>
                  <a:srgbClr val="123524"/>
                </a:solidFill>
                <a:latin typeface="Segoe UI"/>
              </a:defRPr>
            </a:pPr>
            <a:r>
              <a:t>Ưu điểm vượt trội:</a:t>
            </a:r>
          </a:p>
          <a:p>
            <a:pPr>
              <a:spcAft>
                <a:spcPts val="600"/>
              </a:spcAft>
              <a:defRPr sz="950">
                <a:solidFill>
                  <a:srgbClr val="1A2421"/>
                </a:solidFill>
                <a:latin typeface="Segoe UI"/>
              </a:defRPr>
            </a:pPr>
            <a:r>
              <a:t>Rất đơn giản, kịp thời tính giá thành cho cây trồng đúng mùa vụ thu hoạch, phù hợp tinh thần quản trị linh hoạt của Thông tư 99.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IV: PHẦN HÀNH HẠCH TOÁN NGHIỆP VỤ</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08/10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Giai Đoạn 3: Hạch Toán Phân Bổ Đầu Ra Của SXKD Phụ</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Định khoản kết chuyển giá thành lao vụ phụ vào sản xuất chính, xây dựng cơ bản, bán hàng và dịch vụ ra ngoài</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5212080" cy="2331720"/>
          </a:xfrm>
          <a:prstGeom prst="roundRect">
            <a:avLst/>
          </a:prstGeom>
          <a:solidFill>
            <a:srgbClr val="EEF6F0"/>
          </a:solidFill>
          <a:ln w="12700">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280160"/>
            <a:ext cx="5212080" cy="384048"/>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l">
              <a:defRPr sz="1000" b="1">
                <a:solidFill>
                  <a:srgbClr val="FFFFFF"/>
                </a:solidFill>
                <a:latin typeface="Segoe UI"/>
              </a:defRPr>
            </a:pPr>
            <a:r>
              <a:t>1. PHỤC VỤ SẢN XUẤT CHÍNH (TRỒNG TRỌT / CHĂN NUÔI)</a:t>
            </a:r>
          </a:p>
        </p:txBody>
      </p:sp>
      <p:sp>
        <p:nvSpPr>
          <p:cNvPr id="12" name="TextBox 11"/>
          <p:cNvSpPr txBox="1"/>
          <p:nvPr/>
        </p:nvSpPr>
        <p:spPr>
          <a:xfrm>
            <a:off x="868680" y="1719072"/>
            <a:ext cx="4937760" cy="1828800"/>
          </a:xfrm>
          <a:prstGeom prst="rect">
            <a:avLst/>
          </a:prstGeom>
          <a:noFill/>
        </p:spPr>
        <p:txBody>
          <a:bodyPr wrap="square">
            <a:spAutoFit/>
          </a:bodyPr>
          <a:lstStyle/>
          <a:p>
            <a:pPr>
              <a:defRPr sz="950">
                <a:solidFill>
                  <a:srgbClr val="1A2421"/>
                </a:solidFill>
                <a:latin typeface="Consolas"/>
              </a:defRPr>
            </a:pPr>
            <a:r>
              <a:t>Khi máy cày làm đất ruộng lúa, xe chở phân bón, trạm bơm tưới nước cho cà phê:</a:t>
            </a:r>
            <a:br/>
            <a:r>
              <a:t>  Nợ TK 621 (hoặc Nợ TK 154 - Cây lúa, Cây ngô, Cà phê)</a:t>
            </a:r>
            <a:br/>
            <a:r>
              <a:t>  Nợ TK 627 (Chi phí chung trang trại trồng trọt/chăn nuôi)</a:t>
            </a:r>
            <a:br/>
            <a:r>
              <a:t>      Có TK 154 (1541 - Cơ giới, 1542 - Vận tải, 1544 - Trạm bơm)</a:t>
            </a:r>
            <a:br/>
            <a:r>
              <a:t>-&gt; Cấu thành trực tiếp nên giá thành nông sản thu hoạch.</a:t>
            </a:r>
          </a:p>
        </p:txBody>
      </p:sp>
      <p:sp>
        <p:nvSpPr>
          <p:cNvPr id="13" name="Rounded Rectangle 12"/>
          <p:cNvSpPr/>
          <p:nvPr/>
        </p:nvSpPr>
        <p:spPr>
          <a:xfrm>
            <a:off x="6248095" y="1280160"/>
            <a:ext cx="5212080" cy="233172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095" y="1280160"/>
            <a:ext cx="5212080" cy="384048"/>
          </a:xfrm>
          <a:prstGeom prst="rect">
            <a:avLst/>
          </a:prstGeom>
          <a:solidFill>
            <a:srgbClr val="0F5298"/>
          </a:solidFill>
          <a:ln>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l">
              <a:defRPr sz="1000" b="1">
                <a:solidFill>
                  <a:srgbClr val="FFFFFF"/>
                </a:solidFill>
                <a:latin typeface="Segoe UI"/>
              </a:defRPr>
            </a:pPr>
            <a:r>
              <a:t>2. PHỤC VỤ XÂY DỰNG CƠ BẢN NỘI ĐỒNG &amp; BẤT ĐỘNG SẢN</a:t>
            </a:r>
          </a:p>
        </p:txBody>
      </p:sp>
      <p:sp>
        <p:nvSpPr>
          <p:cNvPr id="15" name="TextBox 14"/>
          <p:cNvSpPr txBox="1"/>
          <p:nvPr/>
        </p:nvSpPr>
        <p:spPr>
          <a:xfrm>
            <a:off x="6385255" y="1719072"/>
            <a:ext cx="4937760" cy="1828800"/>
          </a:xfrm>
          <a:prstGeom prst="rect">
            <a:avLst/>
          </a:prstGeom>
          <a:noFill/>
        </p:spPr>
        <p:txBody>
          <a:bodyPr wrap="square">
            <a:spAutoFit/>
          </a:bodyPr>
          <a:lstStyle/>
          <a:p>
            <a:pPr>
              <a:defRPr sz="950">
                <a:solidFill>
                  <a:srgbClr val="1A2421"/>
                </a:solidFill>
                <a:latin typeface="Consolas"/>
              </a:defRPr>
            </a:pPr>
            <a:r>
              <a:t>Đội xe chở đất đá mở đường giao thông nội đồng, đào kênh mương, xây chuồng trại mới:</a:t>
            </a:r>
            <a:br/>
            <a:r>
              <a:t>  Nợ TK 241 - Xây dựng cơ bản dở dang (2412 - XDCB)</a:t>
            </a:r>
            <a:br/>
            <a:r>
              <a:t>      Có TK 154 - Chi phí SXKD dở dang (bộ phận phụ)</a:t>
            </a:r>
            <a:br/>
            <a:r>
              <a:t>-&gt; Vốn hóa vào nguyên giá tài sản cố định/công trình hoàn thành.</a:t>
            </a:r>
          </a:p>
        </p:txBody>
      </p:sp>
      <p:sp>
        <p:nvSpPr>
          <p:cNvPr id="16" name="Rounded Rectangle 15"/>
          <p:cNvSpPr/>
          <p:nvPr/>
        </p:nvSpPr>
        <p:spPr>
          <a:xfrm>
            <a:off x="731520" y="3840480"/>
            <a:ext cx="5212080" cy="2331720"/>
          </a:xfrm>
          <a:prstGeom prst="roundRect">
            <a:avLst/>
          </a:prstGeom>
          <a:solidFill>
            <a:srgbClr val="EEF6F0"/>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840480"/>
            <a:ext cx="5212080" cy="384048"/>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l">
              <a:defRPr sz="1000" b="1">
                <a:solidFill>
                  <a:srgbClr val="FFFFFF"/>
                </a:solidFill>
                <a:latin typeface="Segoe UI"/>
              </a:defRPr>
            </a:pPr>
            <a:r>
              <a:t>3. PHỤC VỤ QUẢN LÝ NÔNG TRƯỜNG &amp; LƯU THÔNG BÁN HÀNG</a:t>
            </a:r>
          </a:p>
        </p:txBody>
      </p:sp>
      <p:sp>
        <p:nvSpPr>
          <p:cNvPr id="18" name="TextBox 17"/>
          <p:cNvSpPr txBox="1"/>
          <p:nvPr/>
        </p:nvSpPr>
        <p:spPr>
          <a:xfrm>
            <a:off x="868680" y="4279392"/>
            <a:ext cx="4937760" cy="1828800"/>
          </a:xfrm>
          <a:prstGeom prst="rect">
            <a:avLst/>
          </a:prstGeom>
          <a:noFill/>
        </p:spPr>
        <p:txBody>
          <a:bodyPr wrap="square">
            <a:spAutoFit/>
          </a:bodyPr>
          <a:lstStyle/>
          <a:p>
            <a:pPr>
              <a:defRPr sz="950">
                <a:solidFill>
                  <a:srgbClr val="1A2421"/>
                </a:solidFill>
                <a:latin typeface="Consolas"/>
              </a:defRPr>
            </a:pPr>
            <a:r>
              <a:t>Xe tải chở nông sản đi giao cho siêu thị, cơ điện sửa chữa điều hòa văn phòng:</a:t>
            </a:r>
            <a:br/>
            <a:r>
              <a:t>  Nợ TK 641 - Chi phí bán hàng (vận chuyển tiêu thụ nông sản)</a:t>
            </a:r>
            <a:br/>
            <a:r>
              <a:t>  Nợ TK 642 - Chi phí quản lý doanh nghiệp (sửa chữa trụ sở)</a:t>
            </a:r>
            <a:br/>
            <a:r>
              <a:t>      Có TK 154 - Chi phí SXKD dở dang (phân xưởng phụ)</a:t>
            </a:r>
            <a:br/>
            <a:r>
              <a:t>-&gt; Tính vào chi phí thời kỳ trên Báo cáo kết quả kinh doanh.</a:t>
            </a:r>
          </a:p>
        </p:txBody>
      </p:sp>
      <p:sp>
        <p:nvSpPr>
          <p:cNvPr id="19" name="Rounded Rectangle 18"/>
          <p:cNvSpPr/>
          <p:nvPr/>
        </p:nvSpPr>
        <p:spPr>
          <a:xfrm>
            <a:off x="6248095" y="3840480"/>
            <a:ext cx="5212080" cy="2331720"/>
          </a:xfrm>
          <a:prstGeom prst="roundRect">
            <a:avLst/>
          </a:prstGeom>
          <a:solidFill>
            <a:srgbClr val="EEF6F0"/>
          </a:solidFill>
          <a:ln w="12700">
            <a:solidFill>
              <a:srgbClr val="B0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8095" y="3840480"/>
            <a:ext cx="5212080" cy="384048"/>
          </a:xfrm>
          <a:prstGeom prst="rect">
            <a:avLst/>
          </a:prstGeom>
          <a:solidFill>
            <a:srgbClr val="B02626"/>
          </a:solidFill>
          <a:ln>
            <a:solidFill>
              <a:srgbClr val="B02626"/>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l">
              <a:defRPr sz="1000" b="1">
                <a:solidFill>
                  <a:srgbClr val="FFFFFF"/>
                </a:solidFill>
                <a:latin typeface="Segoe UI"/>
              </a:defRPr>
            </a:pPr>
            <a:r>
              <a:t>4. CUNG CẤP LAO VỤ RA BÊN NGOÀI &amp; NHẬP KHO THÀNH PHẨM</a:t>
            </a:r>
          </a:p>
        </p:txBody>
      </p:sp>
      <p:sp>
        <p:nvSpPr>
          <p:cNvPr id="21" name="TextBox 20"/>
          <p:cNvSpPr txBox="1"/>
          <p:nvPr/>
        </p:nvSpPr>
        <p:spPr>
          <a:xfrm>
            <a:off x="6385255" y="4279392"/>
            <a:ext cx="4937760" cy="1828800"/>
          </a:xfrm>
          <a:prstGeom prst="rect">
            <a:avLst/>
          </a:prstGeom>
          <a:noFill/>
        </p:spPr>
        <p:txBody>
          <a:bodyPr wrap="square">
            <a:spAutoFit/>
          </a:bodyPr>
          <a:lstStyle/>
          <a:p>
            <a:pPr>
              <a:defRPr sz="950">
                <a:solidFill>
                  <a:srgbClr val="1A2421"/>
                </a:solidFill>
                <a:latin typeface="Consolas"/>
              </a:defRPr>
            </a:pPr>
            <a:r>
              <a:t>• Làm đất/gặt đập thuê cho nông dân lân cận thu tiền:</a:t>
            </a:r>
            <a:br/>
            <a:r>
              <a:t>  + Giá vốn: Nợ TK 632 / Có TK 154 (phụ)</a:t>
            </a:r>
            <a:br/>
            <a:r>
              <a:t>  + Doanh thu: Nợ TK 111, 112, 131 / Có TK 5113, Có TK 3331</a:t>
            </a:r>
            <a:br/>
            <a:r>
              <a:t>• Xưởng TĂGS/phân vi sinh chế biến xong nhập kho dự trữ:</a:t>
            </a:r>
            <a:br/>
            <a:r>
              <a:t>  Nợ TK 152 (vật tư) hoặc Nợ TK 155 (thành phẩm) / Có TK 154 (1545)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VI: SƠ ĐỒ TỔNG HỢP</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09/10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Sơ Đồ Đối Ứng Tài Khoản Tổng Hợp Toàn Bộ Phần Hành</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Mô hình hóa trực quan luân chuyển chi phí từ tập hợp ban đầu đến tính giá thành và phân bổ đầu ra</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4297680" y="1371600"/>
            <a:ext cx="3566160" cy="4754880"/>
          </a:xfrm>
          <a:prstGeom prst="roundRect">
            <a:avLst/>
          </a:prstGeom>
          <a:solidFill>
            <a:srgbClr val="FEF9E7"/>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508760"/>
            <a:ext cx="3291840" cy="4480560"/>
          </a:xfrm>
          <a:prstGeom prst="rect">
            <a:avLst/>
          </a:prstGeom>
          <a:noFill/>
        </p:spPr>
        <p:txBody>
          <a:bodyPr wrap="square">
            <a:spAutoFit/>
          </a:bodyPr>
          <a:lstStyle/>
          <a:p>
            <a:pPr algn="ctr">
              <a:spcAft>
                <a:spcPts val="800"/>
              </a:spcAft>
              <a:defRPr sz="1200" b="1">
                <a:solidFill>
                  <a:srgbClr val="123524"/>
                </a:solidFill>
                <a:latin typeface="Segoe UI"/>
              </a:defRPr>
            </a:pPr>
            <a:r>
              <a:t>TÀI KHOẢN 154 - BỘ PHẬN PHỤ</a:t>
            </a:r>
            <a:br/>
            <a:r>
              <a:t>(Cơ giới, Vận tải, Cơ điện, Trạm bơm)</a:t>
            </a:r>
          </a:p>
          <a:p>
            <a:pPr>
              <a:defRPr sz="950">
                <a:solidFill>
                  <a:srgbClr val="1A2421"/>
                </a:solidFill>
                <a:latin typeface="Consolas"/>
              </a:defRPr>
            </a:pPr>
            <a:r>
              <a:t>---------------------------------------</a:t>
            </a:r>
            <a:br/>
            <a:r>
              <a:t>BÊN NỢ (Tập hợp CP) | BÊN CÓ (Giá thành)</a:t>
            </a:r>
            <a:br/>
            <a:r>
              <a:t>---------------------------------------</a:t>
            </a:r>
            <a:br/>
            <a:r>
              <a:t>• Dư đầu kỳ: Dđ      | • Phục vụ sản xuất</a:t>
            </a:r>
            <a:br/>
            <a:r>
              <a:t>• K/c NVL (TK 621)   |   chính: TK 154 chính</a:t>
            </a:r>
            <a:br/>
            <a:r>
              <a:t>• K/c NCTT (TK 622)  | • XDCB: TK 241</a:t>
            </a:r>
            <a:br/>
            <a:r>
              <a:t>• K/c SXC (TK 627)   | • Quản lý: TK 642</a:t>
            </a:r>
            <a:br/>
            <a:r>
              <a:t>• Nhận từ đội phụ    | • Bán hàng: TK 641</a:t>
            </a:r>
            <a:br/>
            <a:r>
              <a:t>  khác (Q₂₁ × z₂)    | • Bán ra ngoài: TK 632</a:t>
            </a:r>
            <a:br/>
            <a:r>
              <a:t>                     | • Nhập kho: TK 152/155</a:t>
            </a:r>
            <a:br/>
            <a:r>
              <a:t>                     | • Giảm trừ: TK 152, 138</a:t>
            </a:r>
            <a:br/>
            <a:r>
              <a:t>---------------------------------------</a:t>
            </a:r>
            <a:br/>
            <a:r>
              <a:t>Dư cuối kỳ: Dc (nếu có công trình sửa chữa dở dang)</a:t>
            </a:r>
          </a:p>
        </p:txBody>
      </p:sp>
      <p:sp>
        <p:nvSpPr>
          <p:cNvPr id="12" name="Rounded Rectangle 11"/>
          <p:cNvSpPr/>
          <p:nvPr/>
        </p:nvSpPr>
        <p:spPr>
          <a:xfrm>
            <a:off x="731520" y="1371600"/>
            <a:ext cx="3291840" cy="224028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481328"/>
            <a:ext cx="3017520" cy="2011680"/>
          </a:xfrm>
          <a:prstGeom prst="rect">
            <a:avLst/>
          </a:prstGeom>
          <a:noFill/>
        </p:spPr>
        <p:txBody>
          <a:bodyPr wrap="square">
            <a:spAutoFit/>
          </a:bodyPr>
          <a:lstStyle/>
          <a:p>
            <a:pPr>
              <a:spcAft>
                <a:spcPts val="400"/>
              </a:spcAft>
              <a:defRPr sz="1050" b="1">
                <a:solidFill>
                  <a:srgbClr val="123524"/>
                </a:solidFill>
                <a:latin typeface="Segoe UI"/>
              </a:defRPr>
            </a:pPr>
            <a:r>
              <a:t>TẬP HỢP ĐẦU VÀO BAN ĐẦU</a:t>
            </a:r>
          </a:p>
          <a:p>
            <a:pPr>
              <a:spcAft>
                <a:spcPts val="300"/>
              </a:spcAft>
              <a:defRPr sz="900">
                <a:solidFill>
                  <a:srgbClr val="1A2421"/>
                </a:solidFill>
                <a:latin typeface="Segoe UI"/>
              </a:defRPr>
            </a:pPr>
            <a:r>
              <a:t>→ TK 152: Xuất nhiên liệu, phụ tùng</a:t>
            </a:r>
          </a:p>
          <a:p>
            <a:pPr>
              <a:spcAft>
                <a:spcPts val="300"/>
              </a:spcAft>
              <a:defRPr sz="900">
                <a:solidFill>
                  <a:srgbClr val="1A2421"/>
                </a:solidFill>
                <a:latin typeface="Segoe UI"/>
              </a:defRPr>
            </a:pPr>
            <a:r>
              <a:t>→ TK 334, 338: Lương thợ máy, trích BH</a:t>
            </a:r>
          </a:p>
          <a:p>
            <a:pPr>
              <a:spcAft>
                <a:spcPts val="300"/>
              </a:spcAft>
              <a:defRPr sz="900">
                <a:solidFill>
                  <a:srgbClr val="1A2421"/>
                </a:solidFill>
                <a:latin typeface="Segoe UI"/>
              </a:defRPr>
            </a:pPr>
            <a:r>
              <a:t>→ TK 214: Khấu hao máy kéo, ô tô, bơm</a:t>
            </a:r>
          </a:p>
          <a:p>
            <a:pPr>
              <a:spcAft>
                <a:spcPts val="300"/>
              </a:spcAft>
              <a:defRPr sz="900">
                <a:solidFill>
                  <a:srgbClr val="1A2421"/>
                </a:solidFill>
                <a:latin typeface="Segoe UI"/>
              </a:defRPr>
            </a:pPr>
            <a:r>
              <a:t>→ TK 111, 112, 331: Điện, dịch vụ mua ngoài</a:t>
            </a:r>
          </a:p>
        </p:txBody>
      </p:sp>
      <p:sp>
        <p:nvSpPr>
          <p:cNvPr id="14" name="Rounded Rectangle 13"/>
          <p:cNvSpPr/>
          <p:nvPr/>
        </p:nvSpPr>
        <p:spPr>
          <a:xfrm>
            <a:off x="731520" y="3886200"/>
            <a:ext cx="3291840" cy="224028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95928"/>
            <a:ext cx="3017520" cy="2011680"/>
          </a:xfrm>
          <a:prstGeom prst="rect">
            <a:avLst/>
          </a:prstGeom>
          <a:noFill/>
        </p:spPr>
        <p:txBody>
          <a:bodyPr wrap="square">
            <a:spAutoFit/>
          </a:bodyPr>
          <a:lstStyle/>
          <a:p>
            <a:pPr>
              <a:spcAft>
                <a:spcPts val="400"/>
              </a:spcAft>
              <a:defRPr sz="1050" b="1">
                <a:solidFill>
                  <a:srgbClr val="123524"/>
                </a:solidFill>
                <a:latin typeface="Segoe UI"/>
              </a:defRPr>
            </a:pPr>
            <a:r>
              <a:t>KẾT CHUYỂN CUỐI KỲ</a:t>
            </a:r>
          </a:p>
          <a:p>
            <a:pPr>
              <a:spcAft>
                <a:spcPts val="300"/>
              </a:spcAft>
              <a:defRPr sz="900">
                <a:solidFill>
                  <a:srgbClr val="1A2421"/>
                </a:solidFill>
                <a:latin typeface="Segoe UI"/>
              </a:defRPr>
            </a:pPr>
            <a:r>
              <a:t>→ TK 621 -&gt; Nợ TK 154 (Chi phí NVL trực tiếp)</a:t>
            </a:r>
          </a:p>
          <a:p>
            <a:pPr>
              <a:spcAft>
                <a:spcPts val="300"/>
              </a:spcAft>
              <a:defRPr sz="900">
                <a:solidFill>
                  <a:srgbClr val="1A2421"/>
                </a:solidFill>
                <a:latin typeface="Segoe UI"/>
              </a:defRPr>
            </a:pPr>
            <a:r>
              <a:t>→ TK 622 -&gt; Nợ TK 154 (Chi phí NCTT)</a:t>
            </a:r>
          </a:p>
          <a:p>
            <a:pPr>
              <a:spcAft>
                <a:spcPts val="300"/>
              </a:spcAft>
              <a:defRPr sz="900">
                <a:solidFill>
                  <a:srgbClr val="1A2421"/>
                </a:solidFill>
                <a:latin typeface="Segoe UI"/>
              </a:defRPr>
            </a:pPr>
            <a:r>
              <a:t>→ TK 627 -&gt; Nợ TK 154 (Biến phí + Định phí bình thường)</a:t>
            </a:r>
          </a:p>
          <a:p>
            <a:pPr>
              <a:spcAft>
                <a:spcPts val="300"/>
              </a:spcAft>
              <a:defRPr sz="900">
                <a:solidFill>
                  <a:srgbClr val="1A2421"/>
                </a:solidFill>
                <a:latin typeface="Segoe UI"/>
              </a:defRPr>
            </a:pPr>
            <a:r>
              <a:t>→ (*) Định phí không phân bổ -&gt; Nợ TK 632</a:t>
            </a:r>
          </a:p>
        </p:txBody>
      </p:sp>
      <p:sp>
        <p:nvSpPr>
          <p:cNvPr id="16" name="Rounded Rectangle 15"/>
          <p:cNvSpPr/>
          <p:nvPr/>
        </p:nvSpPr>
        <p:spPr>
          <a:xfrm>
            <a:off x="8168335" y="1371600"/>
            <a:ext cx="3291840" cy="224028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5495" y="1481328"/>
            <a:ext cx="3017520" cy="2011680"/>
          </a:xfrm>
          <a:prstGeom prst="rect">
            <a:avLst/>
          </a:prstGeom>
          <a:noFill/>
        </p:spPr>
        <p:txBody>
          <a:bodyPr wrap="square">
            <a:spAutoFit/>
          </a:bodyPr>
          <a:lstStyle/>
          <a:p>
            <a:pPr>
              <a:spcAft>
                <a:spcPts val="400"/>
              </a:spcAft>
              <a:defRPr sz="1050" b="1">
                <a:solidFill>
                  <a:srgbClr val="0F5298"/>
                </a:solidFill>
                <a:latin typeface="Segoe UI"/>
              </a:defRPr>
            </a:pPr>
            <a:r>
              <a:t>PHÂN BỔ SẢN XUẤT CHÍNH</a:t>
            </a:r>
          </a:p>
          <a:p>
            <a:pPr>
              <a:spcAft>
                <a:spcPts val="300"/>
              </a:spcAft>
              <a:defRPr sz="900">
                <a:solidFill>
                  <a:srgbClr val="1A2421"/>
                </a:solidFill>
                <a:latin typeface="Segoe UI"/>
              </a:defRPr>
            </a:pPr>
            <a:r>
              <a:t>← TK 154 (Trồng trọt: Lúa, Cà phê...)</a:t>
            </a:r>
          </a:p>
          <a:p>
            <a:pPr>
              <a:spcAft>
                <a:spcPts val="300"/>
              </a:spcAft>
              <a:defRPr sz="900">
                <a:solidFill>
                  <a:srgbClr val="1A2421"/>
                </a:solidFill>
                <a:latin typeface="Segoe UI"/>
              </a:defRPr>
            </a:pPr>
            <a:r>
              <a:t>← TK 154 (Chăn nuôi: Bò sữa, Heo...)</a:t>
            </a:r>
          </a:p>
          <a:p>
            <a:pPr>
              <a:spcAft>
                <a:spcPts val="300"/>
              </a:spcAft>
              <a:defRPr sz="900">
                <a:solidFill>
                  <a:srgbClr val="1A2421"/>
                </a:solidFill>
                <a:latin typeface="Segoe UI"/>
              </a:defRPr>
            </a:pPr>
            <a:r>
              <a:t>← TK 621 / 627 nông trường</a:t>
            </a:r>
          </a:p>
        </p:txBody>
      </p:sp>
      <p:sp>
        <p:nvSpPr>
          <p:cNvPr id="18" name="Rounded Rectangle 17"/>
          <p:cNvSpPr/>
          <p:nvPr/>
        </p:nvSpPr>
        <p:spPr>
          <a:xfrm>
            <a:off x="8168335" y="3886200"/>
            <a:ext cx="3291840" cy="224028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495" y="3995928"/>
            <a:ext cx="3017520" cy="2011680"/>
          </a:xfrm>
          <a:prstGeom prst="rect">
            <a:avLst/>
          </a:prstGeom>
          <a:noFill/>
        </p:spPr>
        <p:txBody>
          <a:bodyPr wrap="square">
            <a:spAutoFit/>
          </a:bodyPr>
          <a:lstStyle/>
          <a:p>
            <a:pPr>
              <a:spcAft>
                <a:spcPts val="400"/>
              </a:spcAft>
              <a:defRPr sz="1050" b="1">
                <a:solidFill>
                  <a:srgbClr val="0F5298"/>
                </a:solidFill>
                <a:latin typeface="Segoe UI"/>
              </a:defRPr>
            </a:pPr>
            <a:r>
              <a:t>PHÂN BỔ ĐẦU RA KHÁC</a:t>
            </a:r>
          </a:p>
          <a:p>
            <a:pPr>
              <a:spcAft>
                <a:spcPts val="300"/>
              </a:spcAft>
              <a:defRPr sz="900">
                <a:solidFill>
                  <a:srgbClr val="1A2421"/>
                </a:solidFill>
                <a:latin typeface="Segoe UI"/>
              </a:defRPr>
            </a:pPr>
            <a:r>
              <a:t>← TK 241: XDCB đường nội đồng, kênh</a:t>
            </a:r>
          </a:p>
          <a:p>
            <a:pPr>
              <a:spcAft>
                <a:spcPts val="300"/>
              </a:spcAft>
              <a:defRPr sz="900">
                <a:solidFill>
                  <a:srgbClr val="1A2421"/>
                </a:solidFill>
                <a:latin typeface="Segoe UI"/>
              </a:defRPr>
            </a:pPr>
            <a:r>
              <a:t>← TK 641, 642: Bán hàng, quản lý</a:t>
            </a:r>
          </a:p>
          <a:p>
            <a:pPr>
              <a:spcAft>
                <a:spcPts val="300"/>
              </a:spcAft>
              <a:defRPr sz="900">
                <a:solidFill>
                  <a:srgbClr val="1A2421"/>
                </a:solidFill>
                <a:latin typeface="Segoe UI"/>
              </a:defRPr>
            </a:pPr>
            <a:r>
              <a:t>← TK 632: Giá vốn dịch vụ bán ra ngoài</a:t>
            </a:r>
          </a:p>
          <a:p>
            <a:pPr>
              <a:spcAft>
                <a:spcPts val="300"/>
              </a:spcAft>
              <a:defRPr sz="900">
                <a:solidFill>
                  <a:srgbClr val="1A2421"/>
                </a:solidFill>
                <a:latin typeface="Segoe UI"/>
              </a:defRPr>
            </a:pPr>
            <a:r>
              <a:t>← TK 152, 155: Nhập kho TĂGS, phân bón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7772400" cy="274320"/>
          </a:xfrm>
          <a:prstGeom prst="rect">
            <a:avLst/>
          </a:prstGeom>
          <a:noFill/>
        </p:spPr>
        <p:txBody>
          <a:bodyPr wrap="square" lIns="0" tIns="0" rIns="0" bIns="0">
            <a:spAutoFit/>
          </a:bodyPr>
          <a:lstStyle/>
          <a:p>
            <a:pPr>
              <a:defRPr sz="1000" b="1">
                <a:solidFill>
                  <a:srgbClr val="D48F18"/>
                </a:solidFill>
                <a:latin typeface="Segoe UI"/>
              </a:defRPr>
            </a:pPr>
            <a:r>
              <a:t>PHẦN VII: TÌNH HUỐNG THỰC HÀNH</a:t>
            </a:r>
          </a:p>
        </p:txBody>
      </p:sp>
      <p:sp>
        <p:nvSpPr>
          <p:cNvPr id="5" name="TextBox 4"/>
          <p:cNvSpPr txBox="1"/>
          <p:nvPr/>
        </p:nvSpPr>
        <p:spPr>
          <a:xfrm>
            <a:off x="10058400" y="109728"/>
            <a:ext cx="1401775" cy="274320"/>
          </a:xfrm>
          <a:prstGeom prst="rect">
            <a:avLst/>
          </a:prstGeom>
          <a:noFill/>
        </p:spPr>
        <p:txBody>
          <a:bodyPr wrap="none" lIns="0" tIns="0" rIns="0" bIns="0">
            <a:spAutoFit/>
          </a:bodyPr>
          <a:lstStyle/>
          <a:p>
            <a:pPr algn="r">
              <a:defRPr sz="1000" b="1">
                <a:solidFill>
                  <a:srgbClr val="FFFFFF"/>
                </a:solidFill>
                <a:latin typeface="Segoe UI"/>
              </a:defRPr>
            </a:pPr>
            <a:r>
              <a:t>Slide 10/10</a:t>
            </a:r>
          </a:p>
        </p:txBody>
      </p:sp>
      <p:sp>
        <p:nvSpPr>
          <p:cNvPr id="6" name="TextBox 5"/>
          <p:cNvSpPr txBox="1"/>
          <p:nvPr/>
        </p:nvSpPr>
        <p:spPr>
          <a:xfrm>
            <a:off x="731520" y="347472"/>
            <a:ext cx="9601200" cy="457200"/>
          </a:xfrm>
          <a:prstGeom prst="rect">
            <a:avLst/>
          </a:prstGeom>
          <a:noFill/>
        </p:spPr>
        <p:txBody>
          <a:bodyPr wrap="square" lIns="0" tIns="0" rIns="0" bIns="0">
            <a:spAutoFit/>
          </a:bodyPr>
          <a:lstStyle/>
          <a:p>
            <a:pPr>
              <a:defRPr sz="2000" b="1">
                <a:solidFill>
                  <a:srgbClr val="FFFFFF"/>
                </a:solidFill>
                <a:latin typeface="Segoe UI"/>
              </a:defRPr>
            </a:pPr>
            <a:r>
              <a:t>Tình Huống Thực Hành Toàn Diện: Nông Trường Phương Nam</a:t>
            </a:r>
          </a:p>
        </p:txBody>
      </p:sp>
      <p:sp>
        <p:nvSpPr>
          <p:cNvPr id="7" name="TextBox 6"/>
          <p:cNvSpPr txBox="1"/>
          <p:nvPr/>
        </p:nvSpPr>
        <p:spPr>
          <a:xfrm>
            <a:off x="731520" y="804672"/>
            <a:ext cx="10515600" cy="219456"/>
          </a:xfrm>
          <a:prstGeom prst="rect">
            <a:avLst/>
          </a:prstGeom>
          <a:noFill/>
        </p:spPr>
        <p:txBody>
          <a:bodyPr wrap="square" lIns="0" tIns="0" rIns="0" bIns="0">
            <a:spAutoFit/>
          </a:bodyPr>
          <a:lstStyle/>
          <a:p>
            <a:pPr>
              <a:defRPr sz="1050">
                <a:solidFill>
                  <a:srgbClr val="CDE1D4"/>
                </a:solidFill>
                <a:latin typeface="Segoe UI"/>
              </a:defRPr>
            </a:pPr>
            <a:r>
              <a:t>Minh họa tình huống thực tế có số liệu: tập hợp chi phí, xử lý công suất bình thường và hạch toán phân bổ</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900">
                <a:solidFill>
                  <a:srgbClr val="5F6C66"/>
                </a:solidFill>
                <a:latin typeface="Segoe UI"/>
              </a:defRPr>
            </a:pPr>
            <a:r>
              <a:t>Giáo trình Kế toán Doanh nghiệp Nông nghiệp • Áp dụng theo Thông tư số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663440"/>
          </a:xfrm>
          <a:prstGeom prst="rect">
            <a:avLst/>
          </a:prstGeom>
          <a:noFill/>
        </p:spPr>
        <p:txBody>
          <a:bodyPr wrap="square">
            <a:spAutoFit/>
          </a:bodyPr>
          <a:lstStyle/>
          <a:p>
            <a:pPr>
              <a:spcAft>
                <a:spcPts val="800"/>
              </a:spcAft>
              <a:defRPr sz="1300" b="1">
                <a:solidFill>
                  <a:srgbClr val="123524"/>
                </a:solidFill>
                <a:latin typeface="Segoe UI"/>
              </a:defRPr>
            </a:pPr>
            <a:r>
              <a:t>TÌNH HUỐNG THỰC TẾ (Tháng 03/2026)</a:t>
            </a:r>
          </a:p>
          <a:p>
            <a:pPr>
              <a:defRPr sz="919">
                <a:solidFill>
                  <a:srgbClr val="1A2421"/>
                </a:solidFill>
                <a:latin typeface="Consolas"/>
              </a:defRPr>
            </a:pPr>
            <a:r>
              <a:t>Tại Nông trường Phương Nam, Đội Cơ giới phát sinh chi phí làm đất:</a:t>
            </a:r>
            <a:br/>
            <a:br/>
            <a:r>
              <a:t>1. Tập hợp chi phí phát sinh trong tháng:</a:t>
            </a:r>
            <a:br/>
            <a:r>
              <a:t>   • Xăng dầu xuất kho (TK 621): 80.000.000 đ</a:t>
            </a:r>
            <a:br/>
            <a:r>
              <a:t>   • Lương lái máy cày &amp; trích BH (TK 622): 45.000.000 đ</a:t>
            </a:r>
            <a:br/>
            <a:r>
              <a:t>     (Trong đó: 5.000.000 đ lương vượt định mức do ngừng việc)</a:t>
            </a:r>
            <a:br/>
            <a:r>
              <a:t>   • Khấu hao &amp; CP sản xuất chung (TK 627): 35.000.000 đ</a:t>
            </a:r>
            <a:br/>
            <a:r>
              <a:t>     (Trong đó: 7.000.000 đ định phí không phân bổ do hoạt động</a:t>
            </a:r>
            <a:br/>
            <a:r>
              <a:t>      dưới công suất bình thường trong mùa vụ).</a:t>
            </a:r>
            <a:br/>
            <a:r>
              <a:t>   -&gt; Tổng chi phí thực tế phát sinh: 160.000.000 đ.</a:t>
            </a:r>
            <a:br/>
            <a:br/>
            <a:r>
              <a:t>2. Kết quả lao vụ hoàn thành: 1.000 ha cày ải, gồm:</a:t>
            </a:r>
            <a:br/>
            <a:r>
              <a:t>   • Cày ruộng lúa vụ Hè Thu (Ngành chính): 700 ha (70%)</a:t>
            </a:r>
            <a:br/>
            <a:r>
              <a:t>   • Cày ruộng bắp trồng thức ăn chăn nuôi: 200 ha (20%)</a:t>
            </a:r>
            <a:br/>
            <a:r>
              <a:t>   • Cày thuê cho nông hộ bên ngoài: 100 ha (10%)</a:t>
            </a:r>
            <a:br/>
            <a:r>
              <a:t>     Giá bán dịch vụ chưa thuế: 180.000 đ/ha, thuế GTGT 8%.</a:t>
            </a:r>
          </a:p>
        </p:txBody>
      </p:sp>
      <p:sp>
        <p:nvSpPr>
          <p:cNvPr id="12" name="Rounded Rectangle 11"/>
          <p:cNvSpPr/>
          <p:nvPr/>
        </p:nvSpPr>
        <p:spPr>
          <a:xfrm>
            <a:off x="6217920" y="1280160"/>
            <a:ext cx="5212080" cy="4937760"/>
          </a:xfrm>
          <a:prstGeom prst="roundRect">
            <a:avLst/>
          </a:prstGeom>
          <a:solidFill>
            <a:srgbClr val="F5F9F6"/>
          </a:solidFill>
          <a:ln w="12700">
            <a:solidFill>
              <a:srgbClr val="BED7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663440"/>
          </a:xfrm>
          <a:prstGeom prst="rect">
            <a:avLst/>
          </a:prstGeom>
          <a:noFill/>
        </p:spPr>
        <p:txBody>
          <a:bodyPr wrap="square">
            <a:spAutoFit/>
          </a:bodyPr>
          <a:lstStyle/>
          <a:p>
            <a:pPr>
              <a:spcAft>
                <a:spcPts val="800"/>
              </a:spcAft>
              <a:defRPr sz="1300" b="1">
                <a:solidFill>
                  <a:srgbClr val="123524"/>
                </a:solidFill>
                <a:latin typeface="Segoe UI"/>
              </a:defRPr>
            </a:pPr>
            <a:r>
              <a:t>LỜI GIẢI &amp; BÚT TOÁN ĐỊNH KHOẢN (TT 99)</a:t>
            </a:r>
          </a:p>
          <a:p>
            <a:pPr>
              <a:defRPr sz="919">
                <a:solidFill>
                  <a:srgbClr val="1A2421"/>
                </a:solidFill>
                <a:latin typeface="Consolas"/>
              </a:defRPr>
            </a:pPr>
            <a:r>
              <a:t>1. Xác định giá thành thực tế được tính vào TK 154:</a:t>
            </a:r>
            <a:br/>
            <a:r>
              <a:t>   Z = 80tr (NVL) + 40tr (NCTT chuẩn) + 28tr (SXC chuẩn) = 148tr đ.</a:t>
            </a:r>
            <a:br/>
            <a:r>
              <a:t>   Giá thành đơn vị: z = 148.000.000 đ / 1.000 ha = 148.000 đ/ha.</a:t>
            </a:r>
            <a:br/>
            <a:r>
              <a:t>   Chi phí loại trừ vào TK 632: 5tr (lương) + 7tr (SXC) = 12.000.000 đ.</a:t>
            </a:r>
            <a:br/>
            <a:br/>
            <a:r>
              <a:t>2. Hệ thống bút toán hạch toán:</a:t>
            </a:r>
            <a:br/>
            <a:r>
              <a:t>a) Kết chuyển cuối kỳ:</a:t>
            </a:r>
            <a:br/>
            <a:r>
              <a:t>   Nợ TK 154: 148.000.000 đ</a:t>
            </a:r>
            <a:br/>
            <a:r>
              <a:t>   Nợ TK 632:  12.000.000 đ (CP vượt định mức + định phí tĩnh)</a:t>
            </a:r>
            <a:br/>
            <a:r>
              <a:t>       Có TK 621: 80.000.000 đ</a:t>
            </a:r>
            <a:br/>
            <a:r>
              <a:t>       Có TK 622: 45.000.000 đ</a:t>
            </a:r>
            <a:br/>
            <a:r>
              <a:t>       Có TK 627: 35.000.000 đ</a:t>
            </a:r>
            <a:br/>
            <a:r>
              <a:t>b) Phân bổ giá thành lao vụ cày đất:</a:t>
            </a:r>
            <a:br/>
            <a:r>
              <a:t>   • Ruộng lúa (700 ha): Nợ TK 154 (Lúa): 103.600.000 đ</a:t>
            </a:r>
            <a:br/>
            <a:r>
              <a:t>   • Ruộng bắp (200 ha): Nợ TK 154 (Bắp): 29.600.000 đ</a:t>
            </a:r>
            <a:br/>
            <a:r>
              <a:t>   • Cày thuê ngoài (100 ha): Nợ TK 632: 14.800.000 đ</a:t>
            </a:r>
            <a:br/>
            <a:r>
              <a:t>       Có TK 154 (Đội cơ giới): 148.000.000 đ</a:t>
            </a:r>
            <a:br/>
            <a:r>
              <a:t>c) Phản ánh doanh thu cày thuê ngoài:</a:t>
            </a:r>
            <a:br/>
            <a:r>
              <a:t>   Nợ TK 112: 19.440.000 đ</a:t>
            </a:r>
            <a:br/>
            <a:r>
              <a:t>       Có TK 5113: 18.000.000 đ (100 ha x 180.000 đ)</a:t>
            </a:r>
            <a:br/>
            <a:r>
              <a:t>       Có TK 3331:  1.440.000 đ (thuế GTGT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