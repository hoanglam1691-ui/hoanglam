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05840"/>
            <a:ext cx="10058400" cy="5029200"/>
          </a:xfrm>
          <a:prstGeom prst="rect">
            <a:avLst/>
          </a:prstGeom>
          <a:noFill/>
        </p:spPr>
        <p:txBody>
          <a:bodyPr wrap="square">
            <a:spAutoFit/>
          </a:bodyPr>
          <a:lstStyle/>
          <a:p>
            <a:pPr>
              <a:spcAft>
                <a:spcPts val="1800"/>
              </a:spcAft>
              <a:defRPr sz="1400" b="1">
                <a:solidFill>
                  <a:srgbClr val="D48F18"/>
                </a:solidFill>
                <a:latin typeface="Segoe UI"/>
              </a:defRPr>
            </a:pPr>
            <a:r>
              <a:t>CHUYÊN ĐỀ BÀI GIẢNG KẾ TOÁN NÔNG NGHIỆP</a:t>
            </a:r>
          </a:p>
          <a:p>
            <a:pPr>
              <a:spcAft>
                <a:spcPts val="1600"/>
              </a:spcAft>
              <a:defRPr sz="2800" b="1">
                <a:solidFill>
                  <a:srgbClr val="FFFFFF"/>
                </a:solidFill>
                <a:latin typeface="Segoe UI"/>
              </a:defRPr>
            </a:pPr>
            <a:r>
              <a:t>KẾ TOÁN TỔNG HỢP CHI PHÍ SẢN XUẤT VÀ GIÁ THÀNH</a:t>
            </a:r>
            <a:br/>
            <a:r>
              <a:t>SẢN PHẨM CÂY TRỒNG NGẮN NGÀY</a:t>
            </a:r>
          </a:p>
          <a:p>
            <a:pPr>
              <a:spcAft>
                <a:spcPts val="2800"/>
              </a:spcAft>
              <a:defRPr sz="1600">
                <a:solidFill>
                  <a:srgbClr val="BEE6CD"/>
                </a:solidFill>
                <a:latin typeface="Segoe UI"/>
              </a:defRPr>
            </a:pPr>
            <a:r>
              <a:t>Căn cứ theo Chế độ Kế toán Doanh nghiệp mới — Thông tư 99/2025/TT-BTC của Bộ Tài chính</a:t>
            </a:r>
          </a:p>
        </p:txBody>
      </p:sp>
      <p:sp>
        <p:nvSpPr>
          <p:cNvPr id="5" name="Rounded Rectangle 4"/>
          <p:cNvSpPr/>
          <p:nvPr/>
        </p:nvSpPr>
        <p:spPr>
          <a:xfrm>
            <a:off x="1097280" y="4297680"/>
            <a:ext cx="3200400" cy="1280160"/>
          </a:xfrm>
          <a:prstGeom prst="roundRect">
            <a:avLst/>
          </a:prstGeom>
          <a:solidFill>
            <a:srgbClr val="1A4A33"/>
          </a:solidFill>
          <a:ln w="12700">
            <a:solidFill>
              <a:srgbClr val="2270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4462272"/>
            <a:ext cx="2834640" cy="950976"/>
          </a:xfrm>
          <a:prstGeom prst="rect">
            <a:avLst/>
          </a:prstGeom>
          <a:noFill/>
        </p:spPr>
        <p:txBody>
          <a:bodyPr wrap="square">
            <a:spAutoFit/>
          </a:bodyPr>
          <a:lstStyle/>
          <a:p>
            <a:pPr>
              <a:spcAft>
                <a:spcPts val="600"/>
              </a:spcAft>
              <a:defRPr sz="1100" b="1">
                <a:solidFill>
                  <a:srgbClr val="D48F18"/>
                </a:solidFill>
                <a:latin typeface="Segoe UI"/>
              </a:defRPr>
            </a:pPr>
            <a:r>
              <a:t>ĐỐI TƯỢNG CÂY TRỒNG</a:t>
            </a:r>
          </a:p>
          <a:p>
            <a:pPr>
              <a:defRPr sz="1300">
                <a:solidFill>
                  <a:srgbClr val="FFFFFF"/>
                </a:solidFill>
                <a:latin typeface="Segoe UI"/>
              </a:defRPr>
            </a:pPr>
            <a:r>
              <a:t>Lúa nước, Ngô, Đậu tương, Rau màu, Hoa tươi</a:t>
            </a:r>
          </a:p>
        </p:txBody>
      </p:sp>
      <p:sp>
        <p:nvSpPr>
          <p:cNvPr id="7" name="Rounded Rectangle 6"/>
          <p:cNvSpPr/>
          <p:nvPr/>
        </p:nvSpPr>
        <p:spPr>
          <a:xfrm>
            <a:off x="4526280" y="4297680"/>
            <a:ext cx="3200400" cy="1280160"/>
          </a:xfrm>
          <a:prstGeom prst="roundRect">
            <a:avLst/>
          </a:prstGeom>
          <a:solidFill>
            <a:srgbClr val="1A4A33"/>
          </a:solidFill>
          <a:ln w="12700">
            <a:solidFill>
              <a:srgbClr val="2270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9160" y="4462272"/>
            <a:ext cx="2834640" cy="950976"/>
          </a:xfrm>
          <a:prstGeom prst="rect">
            <a:avLst/>
          </a:prstGeom>
          <a:noFill/>
        </p:spPr>
        <p:txBody>
          <a:bodyPr wrap="square">
            <a:spAutoFit/>
          </a:bodyPr>
          <a:lstStyle/>
          <a:p>
            <a:pPr>
              <a:spcAft>
                <a:spcPts val="600"/>
              </a:spcAft>
              <a:defRPr sz="1100" b="1">
                <a:solidFill>
                  <a:srgbClr val="D48F18"/>
                </a:solidFill>
                <a:latin typeface="Segoe UI"/>
              </a:defRPr>
            </a:pPr>
            <a:r>
              <a:t>TRỌNG TÂM NGHIỆP VỤ</a:t>
            </a:r>
          </a:p>
          <a:p>
            <a:pPr>
              <a:defRPr sz="1300">
                <a:solidFill>
                  <a:srgbClr val="FFFFFF"/>
                </a:solidFill>
                <a:latin typeface="Segoe UI"/>
              </a:defRPr>
            </a:pPr>
            <a:r>
              <a:t>Phần hành Hạch toán Chi phí &amp; Giá thành (TK 154)</a:t>
            </a:r>
          </a:p>
        </p:txBody>
      </p:sp>
      <p:sp>
        <p:nvSpPr>
          <p:cNvPr id="9" name="Rounded Rectangle 8"/>
          <p:cNvSpPr/>
          <p:nvPr/>
        </p:nvSpPr>
        <p:spPr>
          <a:xfrm>
            <a:off x="7955279" y="4297680"/>
            <a:ext cx="3200400" cy="1280160"/>
          </a:xfrm>
          <a:prstGeom prst="roundRect">
            <a:avLst/>
          </a:prstGeom>
          <a:solidFill>
            <a:srgbClr val="1A4A33"/>
          </a:solidFill>
          <a:ln w="12700">
            <a:solidFill>
              <a:srgbClr val="2270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59" y="4462272"/>
            <a:ext cx="2834640" cy="950976"/>
          </a:xfrm>
          <a:prstGeom prst="rect">
            <a:avLst/>
          </a:prstGeom>
          <a:noFill/>
        </p:spPr>
        <p:txBody>
          <a:bodyPr wrap="square">
            <a:spAutoFit/>
          </a:bodyPr>
          <a:lstStyle/>
          <a:p>
            <a:pPr>
              <a:spcAft>
                <a:spcPts val="600"/>
              </a:spcAft>
              <a:defRPr sz="1100" b="1">
                <a:solidFill>
                  <a:srgbClr val="D48F18"/>
                </a:solidFill>
                <a:latin typeface="Segoe UI"/>
              </a:defRPr>
            </a:pPr>
            <a:r>
              <a:t>HIỆU LỰC ÁP DỤNG</a:t>
            </a:r>
          </a:p>
          <a:p>
            <a:pPr>
              <a:defRPr sz="1300">
                <a:solidFill>
                  <a:srgbClr val="FFFFFF"/>
                </a:solidFill>
                <a:latin typeface="Segoe UI"/>
              </a:defRPr>
            </a:pPr>
            <a:r>
              <a:t>Áp dụng chính thức từ niên độ tài chính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7772400" cy="256032"/>
          </a:xfrm>
          <a:prstGeom prst="rect">
            <a:avLst/>
          </a:prstGeom>
          <a:noFill/>
        </p:spPr>
        <p:txBody>
          <a:bodyPr wrap="square" lIns="0" tIns="0" rIns="0" bIns="0">
            <a:spAutoFit/>
          </a:bodyPr>
          <a:lstStyle/>
          <a:p>
            <a:pPr>
              <a:defRPr sz="1100" b="1">
                <a:solidFill>
                  <a:srgbClr val="D48F18"/>
                </a:solidFill>
                <a:latin typeface="Segoe UI"/>
              </a:defRPr>
            </a:pPr>
            <a:r>
              <a:t>PHẦN I: TỔNG QUAN &amp; ĐẶC ĐIỂM</a:t>
            </a:r>
          </a:p>
        </p:txBody>
      </p:sp>
      <p:sp>
        <p:nvSpPr>
          <p:cNvPr id="5" name="TextBox 4"/>
          <p:cNvSpPr txBox="1"/>
          <p:nvPr/>
        </p:nvSpPr>
        <p:spPr>
          <a:xfrm>
            <a:off x="9875520" y="91440"/>
            <a:ext cx="1584655" cy="256032"/>
          </a:xfrm>
          <a:prstGeom prst="rect">
            <a:avLst/>
          </a:prstGeom>
          <a:noFill/>
        </p:spPr>
        <p:txBody>
          <a:bodyPr wrap="none" lIns="0" tIns="0" rIns="0" bIns="0">
            <a:spAutoFit/>
          </a:bodyPr>
          <a:lstStyle/>
          <a:p>
            <a:pPr algn="r">
              <a:defRPr sz="1100" b="1">
                <a:solidFill>
                  <a:srgbClr val="FFFFFF"/>
                </a:solidFill>
                <a:latin typeface="Segoe UI"/>
              </a:defRPr>
            </a:pPr>
            <a:r>
              <a:t>Slide 02/15</a:t>
            </a:r>
          </a:p>
        </p:txBody>
      </p:sp>
      <p:sp>
        <p:nvSpPr>
          <p:cNvPr id="6" name="TextBox 5"/>
          <p:cNvSpPr txBox="1"/>
          <p:nvPr/>
        </p:nvSpPr>
        <p:spPr>
          <a:xfrm>
            <a:off x="731520" y="347472"/>
            <a:ext cx="10698480" cy="411480"/>
          </a:xfrm>
          <a:prstGeom prst="rect">
            <a:avLst/>
          </a:prstGeom>
          <a:noFill/>
        </p:spPr>
        <p:txBody>
          <a:bodyPr wrap="square" lIns="0" tIns="0" rIns="0" bIns="0">
            <a:spAutoFit/>
          </a:bodyPr>
          <a:lstStyle/>
          <a:p>
            <a:pPr>
              <a:defRPr sz="2000" b="1">
                <a:solidFill>
                  <a:srgbClr val="FFFFFF"/>
                </a:solidFill>
                <a:latin typeface="Segoe UI"/>
              </a:defRPr>
            </a:pPr>
            <a:r>
              <a:t>Bản Chất &amp; Đặc Điểm Sản Xuất Cây Trồng Ngắn Ngày</a:t>
            </a:r>
          </a:p>
        </p:txBody>
      </p:sp>
      <p:sp>
        <p:nvSpPr>
          <p:cNvPr id="7" name="TextBox 6"/>
          <p:cNvSpPr txBox="1"/>
          <p:nvPr/>
        </p:nvSpPr>
        <p:spPr>
          <a:xfrm>
            <a:off x="731520" y="777240"/>
            <a:ext cx="10698480" cy="228600"/>
          </a:xfrm>
          <a:prstGeom prst="rect">
            <a:avLst/>
          </a:prstGeom>
          <a:noFill/>
        </p:spPr>
        <p:txBody>
          <a:bodyPr wrap="square" lIns="0" tIns="0" rIns="0" bIns="0">
            <a:spAutoFit/>
          </a:bodyPr>
          <a:lstStyle/>
          <a:p>
            <a:pPr>
              <a:defRPr sz="1100">
                <a:solidFill>
                  <a:srgbClr val="CDE4D7"/>
                </a:solidFill>
                <a:latin typeface="Segoe UI"/>
              </a:defRPr>
            </a:pPr>
            <a:r>
              <a:t>Nhận diện đối tượng, 3 thời kỳ chi phí và đặc thù luân chuyển giá thành trong nông nghiệp</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1000">
                <a:solidFill>
                  <a:srgbClr val="55625C"/>
                </a:solidFill>
                <a:latin typeface="Segoe UI"/>
              </a:defRPr>
            </a:pPr>
            <a:r>
              <a:t>Kế toán Doanh nghiệp Nông nghiệp • Cây trồng ngắn ngày • Theo Thông tư 99/2025/TT-BTC ngày 27/10/2025 của Bộ Tài chính</a:t>
            </a:r>
          </a:p>
        </p:txBody>
      </p:sp>
      <p:sp>
        <p:nvSpPr>
          <p:cNvPr id="10" name="Rounded Rectangle 9"/>
          <p:cNvSpPr/>
          <p:nvPr/>
        </p:nvSpPr>
        <p:spPr>
          <a:xfrm>
            <a:off x="731520" y="1280160"/>
            <a:ext cx="5212080" cy="4937760"/>
          </a:xfrm>
          <a:prstGeom prst="roundRect">
            <a:avLst/>
          </a:prstGeom>
          <a:solidFill>
            <a:srgbClr val="EEF6F0"/>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417320"/>
            <a:ext cx="4846320" cy="4572000"/>
          </a:xfrm>
          <a:prstGeom prst="rect">
            <a:avLst/>
          </a:prstGeom>
          <a:noFill/>
        </p:spPr>
        <p:txBody>
          <a:bodyPr wrap="square">
            <a:spAutoFit/>
          </a:bodyPr>
          <a:lstStyle/>
          <a:p>
            <a:pPr>
              <a:spcAft>
                <a:spcPts val="1400"/>
              </a:spcAft>
              <a:defRPr sz="1800" b="1">
                <a:solidFill>
                  <a:srgbClr val="123524"/>
                </a:solidFill>
                <a:latin typeface="Segoe UI"/>
              </a:defRPr>
            </a:pPr>
            <a:r>
              <a:t>1. Ba Thời Kỳ Chi Phí Sản Xuất</a:t>
            </a:r>
          </a:p>
          <a:p>
            <a:pPr>
              <a:spcAft>
                <a:spcPts val="1200"/>
              </a:spcAft>
              <a:defRPr sz="1600" b="1">
                <a:solidFill>
                  <a:srgbClr val="1A2421"/>
                </a:solidFill>
                <a:latin typeface="Segoe UI"/>
              </a:defRPr>
            </a:pPr>
            <a:r>
              <a:t>• Thời kỳ làm đất &amp; gieo trồng: </a:t>
            </a:r>
            <a:r>
              <a:rPr b="0" sz="1600"/>
              <a:t>Chi phí cày bừa, san phẳng ruộng, hạt giống, gieo cấy và phân bón lót.</a:t>
            </a:r>
          </a:p>
          <a:p>
            <a:pPr>
              <a:spcAft>
                <a:spcPts val="1200"/>
              </a:spcAft>
              <a:defRPr sz="1600" b="1">
                <a:solidFill>
                  <a:srgbClr val="1A2421"/>
                </a:solidFill>
                <a:latin typeface="Segoe UI"/>
              </a:defRPr>
            </a:pPr>
            <a:r>
              <a:t>• Thời kỳ chăm sóc &amp; nuôi dưỡng: </a:t>
            </a:r>
            <a:r>
              <a:rPr b="0" sz="1600"/>
              <a:t>Chi phí bón thúc phân, làm cỏ, tưới tiêu, bơm nước nội đồng, phun thuốc BVTV.</a:t>
            </a:r>
          </a:p>
          <a:p>
            <a:pPr>
              <a:spcAft>
                <a:spcPts val="1200"/>
              </a:spcAft>
              <a:defRPr sz="1600" b="1">
                <a:solidFill>
                  <a:srgbClr val="1A2421"/>
                </a:solidFill>
                <a:latin typeface="Segoe UI"/>
              </a:defRPr>
            </a:pPr>
            <a:r>
              <a:t>• Thời kỳ thu hoạch &amp; sơ chế: </a:t>
            </a:r>
            <a:r>
              <a:rPr b="0" sz="1600"/>
              <a:t>Chi phí gặt lúa, bẻ ngô, tuốt hạt, phơi sấy, đóng bao và vận chuyển về kho bãi.</a:t>
            </a:r>
          </a:p>
        </p:txBody>
      </p:sp>
      <p:sp>
        <p:nvSpPr>
          <p:cNvPr id="12" name="Rounded Rectangle 11"/>
          <p:cNvSpPr/>
          <p:nvPr/>
        </p:nvSpPr>
        <p:spPr>
          <a:xfrm>
            <a:off x="6217920" y="1280160"/>
            <a:ext cx="5212080" cy="4937760"/>
          </a:xfrm>
          <a:prstGeom prst="roundRect">
            <a:avLst/>
          </a:prstGeom>
          <a:solidFill>
            <a:srgbClr val="F5F9F6"/>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17320"/>
            <a:ext cx="4846320" cy="4572000"/>
          </a:xfrm>
          <a:prstGeom prst="rect">
            <a:avLst/>
          </a:prstGeom>
          <a:noFill/>
        </p:spPr>
        <p:txBody>
          <a:bodyPr wrap="square">
            <a:spAutoFit/>
          </a:bodyPr>
          <a:lstStyle/>
          <a:p>
            <a:pPr>
              <a:spcAft>
                <a:spcPts val="1400"/>
              </a:spcAft>
              <a:defRPr sz="1800" b="1">
                <a:solidFill>
                  <a:srgbClr val="123524"/>
                </a:solidFill>
                <a:latin typeface="Segoe UI"/>
              </a:defRPr>
            </a:pPr>
            <a:r>
              <a:t>2. Đặc Thù Kế Toán Cần Lưu Ý</a:t>
            </a:r>
          </a:p>
          <a:p>
            <a:pPr>
              <a:spcAft>
                <a:spcPts val="1000"/>
              </a:spcAft>
              <a:defRPr sz="1600" b="1">
                <a:solidFill>
                  <a:srgbClr val="123524"/>
                </a:solidFill>
                <a:latin typeface="Segoe UI"/>
              </a:defRPr>
            </a:pPr>
            <a:r>
              <a:t>✔ Tính chất mùa vụ cao: </a:t>
            </a:r>
            <a:r>
              <a:rPr b="0" sz="1600">
                <a:solidFill>
                  <a:srgbClr val="1A2421"/>
                </a:solidFill>
              </a:rPr>
              <a:t>Chi phí phát sinh dồn dập vào đầu vụ và cuối vụ; giữa vụ chỉ có chi phí chăm sóc.</a:t>
            </a:r>
          </a:p>
          <a:p>
            <a:pPr>
              <a:spcAft>
                <a:spcPts val="1000"/>
              </a:spcAft>
              <a:defRPr sz="1600" b="1">
                <a:solidFill>
                  <a:srgbClr val="123524"/>
                </a:solidFill>
                <a:latin typeface="Segoe UI"/>
              </a:defRPr>
            </a:pPr>
            <a:r>
              <a:t>✔ Chi phí dở dang gối vụ: </a:t>
            </a:r>
            <a:r>
              <a:rPr b="0" sz="1600">
                <a:solidFill>
                  <a:srgbClr val="1A2421"/>
                </a:solidFill>
              </a:rPr>
              <a:t>Vụ Đông Xuân gieo trồng tháng 11-12 năm trước nhưng thu hoạch năm sau, phát sinh Dở dang cuối năm.</a:t>
            </a:r>
          </a:p>
          <a:p>
            <a:pPr>
              <a:spcAft>
                <a:spcPts val="1000"/>
              </a:spcAft>
              <a:defRPr sz="1600" b="1">
                <a:solidFill>
                  <a:srgbClr val="123524"/>
                </a:solidFill>
                <a:latin typeface="Segoe UI"/>
              </a:defRPr>
            </a:pPr>
            <a:r>
              <a:t>✔ Sản phẩm chính &amp; Phụ phẩm: </a:t>
            </a:r>
            <a:r>
              <a:rPr b="0" sz="1600">
                <a:solidFill>
                  <a:srgbClr val="1A2421"/>
                </a:solidFill>
              </a:rPr>
              <a:t>Thu hoạch thu được Sản phẩm chính (thóc, bắp) và Sản phẩm phụ (rơm rạ, thân cây làm thức ăn bò).</a:t>
            </a:r>
          </a:p>
          <a:p>
            <a:pPr>
              <a:spcAft>
                <a:spcPts val="1000"/>
              </a:spcAft>
              <a:defRPr sz="1600" b="1">
                <a:solidFill>
                  <a:srgbClr val="123524"/>
                </a:solidFill>
                <a:latin typeface="Segoe UI"/>
              </a:defRPr>
            </a:pPr>
            <a:r>
              <a:t>✔ Rủi ro thiên tai dịch bệnh: </a:t>
            </a:r>
            <a:r>
              <a:rPr b="0" sz="1600">
                <a:solidFill>
                  <a:srgbClr val="1A2421"/>
                </a:solidFill>
              </a:rPr>
              <a:t>Dễ chịu ảnh hưởng bão lũ, hạn hán, rầy nâu... đòi hỏi nguyên tắc xử lý chi phí riêng.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7772400" cy="256032"/>
          </a:xfrm>
          <a:prstGeom prst="rect">
            <a:avLst/>
          </a:prstGeom>
          <a:noFill/>
        </p:spPr>
        <p:txBody>
          <a:bodyPr wrap="square" lIns="0" tIns="0" rIns="0" bIns="0">
            <a:spAutoFit/>
          </a:bodyPr>
          <a:lstStyle/>
          <a:p>
            <a:pPr>
              <a:defRPr sz="1100" b="1">
                <a:solidFill>
                  <a:srgbClr val="D48F18"/>
                </a:solidFill>
                <a:latin typeface="Segoe UI"/>
              </a:defRPr>
            </a:pPr>
            <a:r>
              <a:t>PHẦN II: KHUNG PHÁP LÝ MỚI</a:t>
            </a:r>
          </a:p>
        </p:txBody>
      </p:sp>
      <p:sp>
        <p:nvSpPr>
          <p:cNvPr id="5" name="TextBox 4"/>
          <p:cNvSpPr txBox="1"/>
          <p:nvPr/>
        </p:nvSpPr>
        <p:spPr>
          <a:xfrm>
            <a:off x="9875520" y="91440"/>
            <a:ext cx="1584655" cy="256032"/>
          </a:xfrm>
          <a:prstGeom prst="rect">
            <a:avLst/>
          </a:prstGeom>
          <a:noFill/>
        </p:spPr>
        <p:txBody>
          <a:bodyPr wrap="none" lIns="0" tIns="0" rIns="0" bIns="0">
            <a:spAutoFit/>
          </a:bodyPr>
          <a:lstStyle/>
          <a:p>
            <a:pPr algn="r">
              <a:defRPr sz="1100" b="1">
                <a:solidFill>
                  <a:srgbClr val="FFFFFF"/>
                </a:solidFill>
                <a:latin typeface="Segoe UI"/>
              </a:defRPr>
            </a:pPr>
            <a:r>
              <a:t>Slide 03/15</a:t>
            </a:r>
          </a:p>
        </p:txBody>
      </p:sp>
      <p:sp>
        <p:nvSpPr>
          <p:cNvPr id="6" name="TextBox 5"/>
          <p:cNvSpPr txBox="1"/>
          <p:nvPr/>
        </p:nvSpPr>
        <p:spPr>
          <a:xfrm>
            <a:off x="731520" y="347472"/>
            <a:ext cx="10698480" cy="411480"/>
          </a:xfrm>
          <a:prstGeom prst="rect">
            <a:avLst/>
          </a:prstGeom>
          <a:noFill/>
        </p:spPr>
        <p:txBody>
          <a:bodyPr wrap="square" lIns="0" tIns="0" rIns="0" bIns="0">
            <a:spAutoFit/>
          </a:bodyPr>
          <a:lstStyle/>
          <a:p>
            <a:pPr>
              <a:defRPr sz="2000" b="1">
                <a:solidFill>
                  <a:srgbClr val="FFFFFF"/>
                </a:solidFill>
                <a:latin typeface="Segoe UI"/>
              </a:defRPr>
            </a:pPr>
            <a:r>
              <a:t>Điểm Mới Cốt Lõi Theo Thông Tư 99/2025/TT-BTC</a:t>
            </a:r>
          </a:p>
        </p:txBody>
      </p:sp>
      <p:sp>
        <p:nvSpPr>
          <p:cNvPr id="7" name="TextBox 6"/>
          <p:cNvSpPr txBox="1"/>
          <p:nvPr/>
        </p:nvSpPr>
        <p:spPr>
          <a:xfrm>
            <a:off x="731520" y="777240"/>
            <a:ext cx="10698480" cy="228600"/>
          </a:xfrm>
          <a:prstGeom prst="rect">
            <a:avLst/>
          </a:prstGeom>
          <a:noFill/>
        </p:spPr>
        <p:txBody>
          <a:bodyPr wrap="square" lIns="0" tIns="0" rIns="0" bIns="0">
            <a:spAutoFit/>
          </a:bodyPr>
          <a:lstStyle/>
          <a:p>
            <a:pPr>
              <a:defRPr sz="1100">
                <a:solidFill>
                  <a:srgbClr val="CDE4D7"/>
                </a:solidFill>
                <a:latin typeface="Segoe UI"/>
              </a:defRPr>
            </a:pPr>
            <a:r>
              <a:t>Các nguyên tắc chi phối kế toán chi phí cây ngắn ngày: tự chủ tài khoản, công suất bình thường và chi phí chuẩn</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1000">
                <a:solidFill>
                  <a:srgbClr val="55625C"/>
                </a:solidFill>
                <a:latin typeface="Segoe UI"/>
              </a:defRPr>
            </a:pPr>
            <a:r>
              <a:t>Kế toán Doanh nghiệp Nông nghiệp • Cây trồng ngắn ngày • Theo Thông tư 99/2025/TT-BTC ngày 27/10/2025 của Bộ Tài chính</a:t>
            </a:r>
          </a:p>
        </p:txBody>
      </p:sp>
      <p:sp>
        <p:nvSpPr>
          <p:cNvPr id="10" name="Rounded Rectangle 9"/>
          <p:cNvSpPr/>
          <p:nvPr/>
        </p:nvSpPr>
        <p:spPr>
          <a:xfrm>
            <a:off x="731520" y="1280160"/>
            <a:ext cx="10728655" cy="2331720"/>
          </a:xfrm>
          <a:prstGeom prst="roundRect">
            <a:avLst/>
          </a:prstGeom>
          <a:solidFill>
            <a:srgbClr val="EEF6F0"/>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371600"/>
            <a:ext cx="10362895" cy="2057400"/>
          </a:xfrm>
          <a:prstGeom prst="rect">
            <a:avLst/>
          </a:prstGeom>
          <a:noFill/>
        </p:spPr>
        <p:txBody>
          <a:bodyPr wrap="square">
            <a:spAutoFit/>
          </a:bodyPr>
          <a:lstStyle/>
          <a:p>
            <a:pPr>
              <a:spcAft>
                <a:spcPts val="800"/>
              </a:spcAft>
              <a:defRPr sz="1800" b="1">
                <a:solidFill>
                  <a:srgbClr val="123524"/>
                </a:solidFill>
                <a:latin typeface="Segoe UI"/>
              </a:defRPr>
            </a:pPr>
            <a:r>
              <a:t>1. Tự Chủ Thiết Lập Danh Mục Tài Khoản &amp; Phương Pháp Chi Phí Chuẩn</a:t>
            </a:r>
          </a:p>
          <a:p>
            <a:pPr>
              <a:spcAft>
                <a:spcPts val="600"/>
              </a:spcAft>
              <a:defRPr sz="1600">
                <a:solidFill>
                  <a:srgbClr val="1A2421"/>
                </a:solidFill>
                <a:latin typeface="Segoe UI"/>
              </a:defRPr>
            </a:pPr>
            <a:r>
              <a:t>• Quyền tự chủ phân cấp: Doanh nghiệp được tự mở các tài khoản cấp 2, cấp 3 theo từng loại cây, từng vụ gieo trồng (TK 1541 - Lúa vụ Đông Xuân, TK 1542 - Lúa vụ Hè Thu, TK 1543 - Cây ngô...).</a:t>
            </a:r>
          </a:p>
          <a:p>
            <a:pPr>
              <a:defRPr sz="1600">
                <a:solidFill>
                  <a:srgbClr val="1A2421"/>
                </a:solidFill>
                <a:latin typeface="Segoe UI"/>
              </a:defRPr>
            </a:pPr>
            <a:r>
              <a:t>• Áp dụng Chi phí chuẩn (Standard Costing): Bổ sung hướng dẫn sử dụng định mức chi phí chuẩn để tính giá thành nhanh ngay khi thu hoạch, cuối kỳ mới xử lý chênh lệch thực tế.</a:t>
            </a:r>
          </a:p>
        </p:txBody>
      </p:sp>
      <p:sp>
        <p:nvSpPr>
          <p:cNvPr id="12" name="Rounded Rectangle 11"/>
          <p:cNvSpPr/>
          <p:nvPr/>
        </p:nvSpPr>
        <p:spPr>
          <a:xfrm>
            <a:off x="731520" y="3840480"/>
            <a:ext cx="10728655" cy="2331720"/>
          </a:xfrm>
          <a:prstGeom prst="roundRect">
            <a:avLst/>
          </a:prstGeom>
          <a:solidFill>
            <a:srgbClr val="F5F9F6"/>
          </a:solidFill>
          <a:ln w="12700">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31920"/>
            <a:ext cx="10362895" cy="2057400"/>
          </a:xfrm>
          <a:prstGeom prst="rect">
            <a:avLst/>
          </a:prstGeom>
          <a:noFill/>
        </p:spPr>
        <p:txBody>
          <a:bodyPr wrap="square">
            <a:spAutoFit/>
          </a:bodyPr>
          <a:lstStyle/>
          <a:p>
            <a:pPr>
              <a:spcAft>
                <a:spcPts val="800"/>
              </a:spcAft>
              <a:defRPr sz="1800" b="1">
                <a:solidFill>
                  <a:srgbClr val="D48F18"/>
                </a:solidFill>
                <a:latin typeface="Segoe UI"/>
              </a:defRPr>
            </a:pPr>
            <a:r>
              <a:t>2. Nguyên Tắc Công Suất Bình Thường &amp; Loại Trừ Chi Phí Lãng Phí</a:t>
            </a:r>
          </a:p>
          <a:p>
            <a:pPr>
              <a:spcAft>
                <a:spcPts val="600"/>
              </a:spcAft>
              <a:defRPr sz="1600">
                <a:solidFill>
                  <a:srgbClr val="1A2421"/>
                </a:solidFill>
                <a:latin typeface="Segoe UI"/>
              </a:defRPr>
            </a:pPr>
            <a:r>
              <a:t>• Xử lý định phí mùa nông nhàn: Khấu hao máy móc thi công, trạm bơm nước trong thời gian nông nhàn không hoạt động được tính vào TK 632 (Giá vốn hàng bán), KHÔNG ĐƯỢC tính vào giá thành cây trồng.</a:t>
            </a:r>
          </a:p>
          <a:p>
            <a:pPr>
              <a:defRPr sz="1600">
                <a:solidFill>
                  <a:srgbClr val="1A2421"/>
                </a:solidFill>
                <a:latin typeface="Segoe UI"/>
              </a:defRPr>
            </a:pPr>
            <a:r>
              <a:t>• Loại trừ chi phí vượt định mức: Chi phí giống chết do bảo quản sai, lãng phí phân bón vượt mức cho phép được ghi nhận thẳng vào TK 632 để phản ánh trung thực giá thành nông sản.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7772400" cy="256032"/>
          </a:xfrm>
          <a:prstGeom prst="rect">
            <a:avLst/>
          </a:prstGeom>
          <a:noFill/>
        </p:spPr>
        <p:txBody>
          <a:bodyPr wrap="square" lIns="0" tIns="0" rIns="0" bIns="0">
            <a:spAutoFit/>
          </a:bodyPr>
          <a:lstStyle/>
          <a:p>
            <a:pPr>
              <a:defRPr sz="1100" b="1">
                <a:solidFill>
                  <a:srgbClr val="D48F18"/>
                </a:solidFill>
                <a:latin typeface="Segoe UI"/>
              </a:defRPr>
            </a:pPr>
            <a:r>
              <a:t>PHẦN III: THIẾT KẾ TÀI KHOẢN</a:t>
            </a:r>
          </a:p>
        </p:txBody>
      </p:sp>
      <p:sp>
        <p:nvSpPr>
          <p:cNvPr id="5" name="TextBox 4"/>
          <p:cNvSpPr txBox="1"/>
          <p:nvPr/>
        </p:nvSpPr>
        <p:spPr>
          <a:xfrm>
            <a:off x="9875520" y="91440"/>
            <a:ext cx="1584655" cy="256032"/>
          </a:xfrm>
          <a:prstGeom prst="rect">
            <a:avLst/>
          </a:prstGeom>
          <a:noFill/>
        </p:spPr>
        <p:txBody>
          <a:bodyPr wrap="none" lIns="0" tIns="0" rIns="0" bIns="0">
            <a:spAutoFit/>
          </a:bodyPr>
          <a:lstStyle/>
          <a:p>
            <a:pPr algn="r">
              <a:defRPr sz="1100" b="1">
                <a:solidFill>
                  <a:srgbClr val="FFFFFF"/>
                </a:solidFill>
                <a:latin typeface="Segoe UI"/>
              </a:defRPr>
            </a:pPr>
            <a:r>
              <a:t>Slide 04/15</a:t>
            </a:r>
          </a:p>
        </p:txBody>
      </p:sp>
      <p:sp>
        <p:nvSpPr>
          <p:cNvPr id="6" name="TextBox 5"/>
          <p:cNvSpPr txBox="1"/>
          <p:nvPr/>
        </p:nvSpPr>
        <p:spPr>
          <a:xfrm>
            <a:off x="731520" y="347472"/>
            <a:ext cx="10698480" cy="411480"/>
          </a:xfrm>
          <a:prstGeom prst="rect">
            <a:avLst/>
          </a:prstGeom>
          <a:noFill/>
        </p:spPr>
        <p:txBody>
          <a:bodyPr wrap="square" lIns="0" tIns="0" rIns="0" bIns="0">
            <a:spAutoFit/>
          </a:bodyPr>
          <a:lstStyle/>
          <a:p>
            <a:pPr>
              <a:defRPr sz="2000" b="1">
                <a:solidFill>
                  <a:srgbClr val="FFFFFF"/>
                </a:solidFill>
                <a:latin typeface="Segoe UI"/>
              </a:defRPr>
            </a:pPr>
            <a:r>
              <a:t>Hệ Thống Tài Khoản Kế Toán Sử Dụng Cho Cây Ngắn Ngày</a:t>
            </a:r>
          </a:p>
        </p:txBody>
      </p:sp>
      <p:sp>
        <p:nvSpPr>
          <p:cNvPr id="7" name="TextBox 6"/>
          <p:cNvSpPr txBox="1"/>
          <p:nvPr/>
        </p:nvSpPr>
        <p:spPr>
          <a:xfrm>
            <a:off x="731520" y="777240"/>
            <a:ext cx="10698480" cy="228600"/>
          </a:xfrm>
          <a:prstGeom prst="rect">
            <a:avLst/>
          </a:prstGeom>
          <a:noFill/>
        </p:spPr>
        <p:txBody>
          <a:bodyPr wrap="square" lIns="0" tIns="0" rIns="0" bIns="0">
            <a:spAutoFit/>
          </a:bodyPr>
          <a:lstStyle/>
          <a:p>
            <a:pPr>
              <a:defRPr sz="1100">
                <a:solidFill>
                  <a:srgbClr val="CDE4D7"/>
                </a:solidFill>
                <a:latin typeface="Segoe UI"/>
              </a:defRPr>
            </a:pPr>
            <a:r>
              <a:t>Danh mục tài khoản hạch toán chi phí và giá thành theo Thông tư 99/2025/TT-BTC</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1000">
                <a:solidFill>
                  <a:srgbClr val="55625C"/>
                </a:solidFill>
                <a:latin typeface="Segoe UI"/>
              </a:defRPr>
            </a:pPr>
            <a:r>
              <a:t>Kế toán Doanh nghiệp Nông nghiệp • Cây trồng ngắn ngày • Theo Thông tư 99/2025/TT-BTC ngày 27/10/2025 của Bộ Tài chính</a:t>
            </a:r>
          </a:p>
        </p:txBody>
      </p:sp>
      <p:sp>
        <p:nvSpPr>
          <p:cNvPr id="10" name="Rounded Rectangle 9"/>
          <p:cNvSpPr/>
          <p:nvPr/>
        </p:nvSpPr>
        <p:spPr>
          <a:xfrm>
            <a:off x="731520" y="1280160"/>
            <a:ext cx="5212080" cy="2331720"/>
          </a:xfrm>
          <a:prstGeom prst="roundRect">
            <a:avLst/>
          </a:prstGeom>
          <a:solidFill>
            <a:srgbClr val="EEF6F0"/>
          </a:solidFill>
          <a:ln w="12700">
            <a:solidFill>
              <a:srgbClr val="0F52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280160"/>
            <a:ext cx="5212080" cy="457200"/>
          </a:xfrm>
          <a:prstGeom prst="rect">
            <a:avLst/>
          </a:prstGeom>
          <a:solidFill>
            <a:srgbClr val="0F5298"/>
          </a:solidFill>
          <a:ln>
            <a:solidFill>
              <a:srgbClr val="0F5298"/>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defRPr sz="1500" b="1">
                <a:solidFill>
                  <a:srgbClr val="FFFFFF"/>
                </a:solidFill>
                <a:latin typeface="Segoe UI"/>
              </a:defRPr>
            </a:pPr>
            <a:r>
              <a:t>TK 621 — Chi phí NVL trực tiếp</a:t>
            </a:r>
          </a:p>
        </p:txBody>
      </p:sp>
      <p:sp>
        <p:nvSpPr>
          <p:cNvPr id="12" name="TextBox 11"/>
          <p:cNvSpPr txBox="1"/>
          <p:nvPr/>
        </p:nvSpPr>
        <p:spPr>
          <a:xfrm>
            <a:off x="914400" y="1783080"/>
            <a:ext cx="4846320" cy="1783080"/>
          </a:xfrm>
          <a:prstGeom prst="rect">
            <a:avLst/>
          </a:prstGeom>
          <a:noFill/>
        </p:spPr>
        <p:txBody>
          <a:bodyPr wrap="square">
            <a:spAutoFit/>
          </a:bodyPr>
          <a:lstStyle/>
          <a:p>
            <a:pPr>
              <a:spcAft>
                <a:spcPts val="400"/>
              </a:spcAft>
              <a:defRPr sz="1600">
                <a:solidFill>
                  <a:srgbClr val="1A2421"/>
                </a:solidFill>
                <a:latin typeface="Segoe UI"/>
              </a:defRPr>
            </a:pPr>
            <a:r>
              <a:t>• Phản ánh chi phí giống cây trồng, phân bón lót và bón thúc.</a:t>
            </a:r>
          </a:p>
          <a:p>
            <a:pPr>
              <a:spcAft>
                <a:spcPts val="400"/>
              </a:spcAft>
              <a:defRPr sz="1600">
                <a:solidFill>
                  <a:srgbClr val="1A2421"/>
                </a:solidFill>
                <a:latin typeface="Segoe UI"/>
              </a:defRPr>
            </a:pPr>
            <a:r>
              <a:t>• Phản ánh thuốc bảo vệ thực vật, thuốc trừ sâu, thuốc diệt cỏ.</a:t>
            </a:r>
          </a:p>
          <a:p>
            <a:pPr>
              <a:spcAft>
                <a:spcPts val="400"/>
              </a:spcAft>
              <a:defRPr sz="1600">
                <a:solidFill>
                  <a:srgbClr val="1A2421"/>
                </a:solidFill>
                <a:latin typeface="Segoe UI"/>
              </a:defRPr>
            </a:pPr>
            <a:r>
              <a:t>• Nilon màng phủ nông nghiệp, dây buộc, vật tư tiêu hao trực tiếp.</a:t>
            </a:r>
          </a:p>
        </p:txBody>
      </p:sp>
      <p:sp>
        <p:nvSpPr>
          <p:cNvPr id="13" name="Rounded Rectangle 12"/>
          <p:cNvSpPr/>
          <p:nvPr/>
        </p:nvSpPr>
        <p:spPr>
          <a:xfrm>
            <a:off x="6248095" y="1280160"/>
            <a:ext cx="5212080" cy="2331720"/>
          </a:xfrm>
          <a:prstGeom prst="roundRect">
            <a:avLst/>
          </a:prstGeom>
          <a:solidFill>
            <a:srgbClr val="EEF6F0"/>
          </a:solidFill>
          <a:ln w="12700">
            <a:solidFill>
              <a:srgbClr val="2270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095" y="1280160"/>
            <a:ext cx="5212080" cy="457200"/>
          </a:xfrm>
          <a:prstGeom prst="rect">
            <a:avLst/>
          </a:prstGeom>
          <a:solidFill>
            <a:srgbClr val="227045"/>
          </a:solidFill>
          <a:ln>
            <a:solidFill>
              <a:srgbClr val="227045"/>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defRPr sz="1500" b="1">
                <a:solidFill>
                  <a:srgbClr val="FFFFFF"/>
                </a:solidFill>
                <a:latin typeface="Segoe UI"/>
              </a:defRPr>
            </a:pPr>
            <a:r>
              <a:t>TK 622 — Chi phí nhân công trực tiếp</a:t>
            </a:r>
          </a:p>
        </p:txBody>
      </p:sp>
      <p:sp>
        <p:nvSpPr>
          <p:cNvPr id="15" name="TextBox 14"/>
          <p:cNvSpPr txBox="1"/>
          <p:nvPr/>
        </p:nvSpPr>
        <p:spPr>
          <a:xfrm>
            <a:off x="6430975" y="1783080"/>
            <a:ext cx="4846320" cy="1783080"/>
          </a:xfrm>
          <a:prstGeom prst="rect">
            <a:avLst/>
          </a:prstGeom>
          <a:noFill/>
        </p:spPr>
        <p:txBody>
          <a:bodyPr wrap="square">
            <a:spAutoFit/>
          </a:bodyPr>
          <a:lstStyle/>
          <a:p>
            <a:pPr>
              <a:spcAft>
                <a:spcPts val="400"/>
              </a:spcAft>
              <a:defRPr sz="1600">
                <a:solidFill>
                  <a:srgbClr val="1A2421"/>
                </a:solidFill>
                <a:latin typeface="Segoe UI"/>
              </a:defRPr>
            </a:pPr>
            <a:r>
              <a:t>• Tiền lương công nhân gieo trồng, chăm sóc, làm cỏ ruộng lúa/ngô.</a:t>
            </a:r>
          </a:p>
          <a:p>
            <a:pPr>
              <a:spcAft>
                <a:spcPts val="400"/>
              </a:spcAft>
              <a:defRPr sz="1600">
                <a:solidFill>
                  <a:srgbClr val="1A2421"/>
                </a:solidFill>
                <a:latin typeface="Segoe UI"/>
              </a:defRPr>
            </a:pPr>
            <a:r>
              <a:t>• Chi phí thuê nhân công thời vụ gieo cấy, cắt gặt theo mùa vụ.</a:t>
            </a:r>
          </a:p>
          <a:p>
            <a:pPr>
              <a:spcAft>
                <a:spcPts val="400"/>
              </a:spcAft>
              <a:defRPr sz="1600">
                <a:solidFill>
                  <a:srgbClr val="1A2421"/>
                </a:solidFill>
                <a:latin typeface="Segoe UI"/>
              </a:defRPr>
            </a:pPr>
            <a:r>
              <a:t>• Các khoản trích 23.5% theo lương (BHXH, BHYT, KPCĐ, BHTN).</a:t>
            </a:r>
          </a:p>
        </p:txBody>
      </p:sp>
      <p:sp>
        <p:nvSpPr>
          <p:cNvPr id="16" name="Rounded Rectangle 15"/>
          <p:cNvSpPr/>
          <p:nvPr/>
        </p:nvSpPr>
        <p:spPr>
          <a:xfrm>
            <a:off x="731520" y="3840480"/>
            <a:ext cx="5212080" cy="2331720"/>
          </a:xfrm>
          <a:prstGeom prst="roundRect">
            <a:avLst/>
          </a:prstGeom>
          <a:solidFill>
            <a:srgbClr val="EEF6F0"/>
          </a:solidFill>
          <a:ln w="12700">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840480"/>
            <a:ext cx="5212080" cy="457200"/>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defRPr sz="1500" b="1">
                <a:solidFill>
                  <a:srgbClr val="FFFFFF"/>
                </a:solidFill>
                <a:latin typeface="Segoe UI"/>
              </a:defRPr>
            </a:pPr>
            <a:r>
              <a:t>TK 627 — Chi phí sản xuất chung</a:t>
            </a:r>
          </a:p>
        </p:txBody>
      </p:sp>
      <p:sp>
        <p:nvSpPr>
          <p:cNvPr id="18" name="TextBox 17"/>
          <p:cNvSpPr txBox="1"/>
          <p:nvPr/>
        </p:nvSpPr>
        <p:spPr>
          <a:xfrm>
            <a:off x="914400" y="4343400"/>
            <a:ext cx="4846320" cy="1783080"/>
          </a:xfrm>
          <a:prstGeom prst="rect">
            <a:avLst/>
          </a:prstGeom>
          <a:noFill/>
        </p:spPr>
        <p:txBody>
          <a:bodyPr wrap="square">
            <a:spAutoFit/>
          </a:bodyPr>
          <a:lstStyle/>
          <a:p>
            <a:pPr>
              <a:spcAft>
                <a:spcPts val="400"/>
              </a:spcAft>
              <a:defRPr sz="1600">
                <a:solidFill>
                  <a:srgbClr val="1A2421"/>
                </a:solidFill>
                <a:latin typeface="Segoe UI"/>
              </a:defRPr>
            </a:pPr>
            <a:r>
              <a:t>• Tiếp nhận chi phí cày bừa, san ủi đất từ Đội Cơ giới (SXKD phụ).</a:t>
            </a:r>
          </a:p>
          <a:p>
            <a:pPr>
              <a:spcAft>
                <a:spcPts val="400"/>
              </a:spcAft>
              <a:defRPr sz="1600">
                <a:solidFill>
                  <a:srgbClr val="1A2421"/>
                </a:solidFill>
                <a:latin typeface="Segoe UI"/>
              </a:defRPr>
            </a:pPr>
            <a:r>
              <a:t>• Khấu hao hệ thống kênh mương, nhà lưới, máy bơm nước tưới tiêu.</a:t>
            </a:r>
          </a:p>
          <a:p>
            <a:pPr>
              <a:spcAft>
                <a:spcPts val="400"/>
              </a:spcAft>
              <a:defRPr sz="1600">
                <a:solidFill>
                  <a:srgbClr val="1A2421"/>
                </a:solidFill>
                <a:latin typeface="Segoe UI"/>
              </a:defRPr>
            </a:pPr>
            <a:r>
              <a:t>• Lương đội trưởng sản xuất, kỹ thuật viên nông nghiệp nông trường.</a:t>
            </a:r>
          </a:p>
        </p:txBody>
      </p:sp>
      <p:sp>
        <p:nvSpPr>
          <p:cNvPr id="19" name="Rounded Rectangle 18"/>
          <p:cNvSpPr/>
          <p:nvPr/>
        </p:nvSpPr>
        <p:spPr>
          <a:xfrm>
            <a:off x="6248095" y="3840480"/>
            <a:ext cx="5212080" cy="2331720"/>
          </a:xfrm>
          <a:prstGeom prst="roundRect">
            <a:avLst/>
          </a:prstGeom>
          <a:solidFill>
            <a:srgbClr val="EEF6F0"/>
          </a:solidFill>
          <a:ln w="12700">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8095" y="3840480"/>
            <a:ext cx="5212080" cy="45720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l">
              <a:defRPr sz="1500" b="1">
                <a:solidFill>
                  <a:srgbClr val="FFFFFF"/>
                </a:solidFill>
                <a:latin typeface="Segoe UI"/>
              </a:defRPr>
            </a:pPr>
            <a:r>
              <a:t>TK 154 — Chi phí SXKD dở dang</a:t>
            </a:r>
          </a:p>
        </p:txBody>
      </p:sp>
      <p:sp>
        <p:nvSpPr>
          <p:cNvPr id="21" name="TextBox 20"/>
          <p:cNvSpPr txBox="1"/>
          <p:nvPr/>
        </p:nvSpPr>
        <p:spPr>
          <a:xfrm>
            <a:off x="6430975" y="4343400"/>
            <a:ext cx="4846320" cy="1783080"/>
          </a:xfrm>
          <a:prstGeom prst="rect">
            <a:avLst/>
          </a:prstGeom>
          <a:noFill/>
        </p:spPr>
        <p:txBody>
          <a:bodyPr wrap="square">
            <a:spAutoFit/>
          </a:bodyPr>
          <a:lstStyle/>
          <a:p>
            <a:pPr>
              <a:spcAft>
                <a:spcPts val="400"/>
              </a:spcAft>
              <a:defRPr sz="1600">
                <a:solidFill>
                  <a:srgbClr val="1A2421"/>
                </a:solidFill>
                <a:latin typeface="Segoe UI"/>
              </a:defRPr>
            </a:pPr>
            <a:r>
              <a:t>• Mở chi tiết theo từng loại cây trồng và từng vụ gieo trồng cụ thể.</a:t>
            </a:r>
          </a:p>
          <a:p>
            <a:pPr>
              <a:spcAft>
                <a:spcPts val="400"/>
              </a:spcAft>
              <a:defRPr sz="1600">
                <a:solidFill>
                  <a:srgbClr val="1A2421"/>
                </a:solidFill>
                <a:latin typeface="Segoe UI"/>
              </a:defRPr>
            </a:pPr>
            <a:r>
              <a:t>• Bên Nợ: Tập hợp chi phí thực tế (kết chuyển từ 621, 622, 627).</a:t>
            </a:r>
          </a:p>
          <a:p>
            <a:pPr>
              <a:spcAft>
                <a:spcPts val="400"/>
              </a:spcAft>
              <a:defRPr sz="1600">
                <a:solidFill>
                  <a:srgbClr val="1A2421"/>
                </a:solidFill>
                <a:latin typeface="Segoe UI"/>
              </a:defRPr>
            </a:pPr>
            <a:r>
              <a:t>• Bên Có: Giá thành nông sản thu hoạch nhập kho hoặc bán thẳng.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7772400" cy="256032"/>
          </a:xfrm>
          <a:prstGeom prst="rect">
            <a:avLst/>
          </a:prstGeom>
          <a:noFill/>
        </p:spPr>
        <p:txBody>
          <a:bodyPr wrap="square" lIns="0" tIns="0" rIns="0" bIns="0">
            <a:spAutoFit/>
          </a:bodyPr>
          <a:lstStyle/>
          <a:p>
            <a:pPr>
              <a:defRPr sz="1100" b="1">
                <a:solidFill>
                  <a:srgbClr val="D48F18"/>
                </a:solidFill>
                <a:latin typeface="Segoe UI"/>
              </a:defRPr>
            </a:pPr>
            <a:r>
              <a:t>PHẦN III: THIẾT KẾ TÀI KHOẢN</a:t>
            </a:r>
          </a:p>
        </p:txBody>
      </p:sp>
      <p:sp>
        <p:nvSpPr>
          <p:cNvPr id="5" name="TextBox 4"/>
          <p:cNvSpPr txBox="1"/>
          <p:nvPr/>
        </p:nvSpPr>
        <p:spPr>
          <a:xfrm>
            <a:off x="9875520" y="91440"/>
            <a:ext cx="1584655" cy="256032"/>
          </a:xfrm>
          <a:prstGeom prst="rect">
            <a:avLst/>
          </a:prstGeom>
          <a:noFill/>
        </p:spPr>
        <p:txBody>
          <a:bodyPr wrap="none" lIns="0" tIns="0" rIns="0" bIns="0">
            <a:spAutoFit/>
          </a:bodyPr>
          <a:lstStyle/>
          <a:p>
            <a:pPr algn="r">
              <a:defRPr sz="1100" b="1">
                <a:solidFill>
                  <a:srgbClr val="FFFFFF"/>
                </a:solidFill>
                <a:latin typeface="Segoe UI"/>
              </a:defRPr>
            </a:pPr>
            <a:r>
              <a:t>Slide 05/15</a:t>
            </a:r>
          </a:p>
        </p:txBody>
      </p:sp>
      <p:sp>
        <p:nvSpPr>
          <p:cNvPr id="6" name="TextBox 5"/>
          <p:cNvSpPr txBox="1"/>
          <p:nvPr/>
        </p:nvSpPr>
        <p:spPr>
          <a:xfrm>
            <a:off x="731520" y="347472"/>
            <a:ext cx="10698480" cy="411480"/>
          </a:xfrm>
          <a:prstGeom prst="rect">
            <a:avLst/>
          </a:prstGeom>
          <a:noFill/>
        </p:spPr>
        <p:txBody>
          <a:bodyPr wrap="square" lIns="0" tIns="0" rIns="0" bIns="0">
            <a:spAutoFit/>
          </a:bodyPr>
          <a:lstStyle/>
          <a:p>
            <a:pPr>
              <a:defRPr sz="2000" b="1">
                <a:solidFill>
                  <a:srgbClr val="FFFFFF"/>
                </a:solidFill>
                <a:latin typeface="Segoe UI"/>
              </a:defRPr>
            </a:pPr>
            <a:r>
              <a:t>Đối Tượng Tập Hợp Chi Phí &amp; Đối Tượng Tính Giá Thành</a:t>
            </a:r>
          </a:p>
        </p:txBody>
      </p:sp>
      <p:sp>
        <p:nvSpPr>
          <p:cNvPr id="7" name="TextBox 6"/>
          <p:cNvSpPr txBox="1"/>
          <p:nvPr/>
        </p:nvSpPr>
        <p:spPr>
          <a:xfrm>
            <a:off x="731520" y="777240"/>
            <a:ext cx="10698480" cy="228600"/>
          </a:xfrm>
          <a:prstGeom prst="rect">
            <a:avLst/>
          </a:prstGeom>
          <a:noFill/>
        </p:spPr>
        <p:txBody>
          <a:bodyPr wrap="square" lIns="0" tIns="0" rIns="0" bIns="0">
            <a:spAutoFit/>
          </a:bodyPr>
          <a:lstStyle/>
          <a:p>
            <a:pPr>
              <a:defRPr sz="1100">
                <a:solidFill>
                  <a:srgbClr val="CDE4D7"/>
                </a:solidFill>
                <a:latin typeface="Segoe UI"/>
              </a:defRPr>
            </a:pPr>
            <a:r>
              <a:t>Xác định ranh giới tập hợp chi phí và đơn vị sản phẩm tính giá thành cây ngắn ngày</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1000">
                <a:solidFill>
                  <a:srgbClr val="55625C"/>
                </a:solidFill>
                <a:latin typeface="Segoe UI"/>
              </a:defRPr>
            </a:pPr>
            <a:r>
              <a:t>Kế toán Doanh nghiệp Nông nghiệp • Cây trồng ngắn ngày • Theo Thông tư 99/2025/TT-BTC ngày 27/10/2025 của Bộ Tài chính</a:t>
            </a:r>
          </a:p>
        </p:txBody>
      </p:sp>
      <p:sp>
        <p:nvSpPr>
          <p:cNvPr id="10" name="Rounded Rectangle 9"/>
          <p:cNvSpPr/>
          <p:nvPr/>
        </p:nvSpPr>
        <p:spPr>
          <a:xfrm>
            <a:off x="731520" y="1280160"/>
            <a:ext cx="5212080" cy="4937760"/>
          </a:xfrm>
          <a:prstGeom prst="roundRect">
            <a:avLst/>
          </a:prstGeom>
          <a:solidFill>
            <a:srgbClr val="EEF6F0"/>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417320"/>
            <a:ext cx="4846320" cy="4572000"/>
          </a:xfrm>
          <a:prstGeom prst="rect">
            <a:avLst/>
          </a:prstGeom>
          <a:noFill/>
        </p:spPr>
        <p:txBody>
          <a:bodyPr wrap="square">
            <a:spAutoFit/>
          </a:bodyPr>
          <a:lstStyle/>
          <a:p>
            <a:pPr>
              <a:spcAft>
                <a:spcPts val="1400"/>
              </a:spcAft>
              <a:defRPr sz="1800" b="1">
                <a:solidFill>
                  <a:srgbClr val="123524"/>
                </a:solidFill>
                <a:latin typeface="Segoe UI"/>
              </a:defRPr>
            </a:pPr>
            <a:r>
              <a:t>1. Đối Tượng Tập Hợp Chi Phí</a:t>
            </a:r>
          </a:p>
          <a:p>
            <a:pPr>
              <a:spcAft>
                <a:spcPts val="1000"/>
              </a:spcAft>
              <a:defRPr sz="1600" b="1">
                <a:solidFill>
                  <a:srgbClr val="1A2421"/>
                </a:solidFill>
                <a:latin typeface="Segoe UI"/>
              </a:defRPr>
            </a:pPr>
            <a:r>
              <a:t>• Theo từng loại cây trồng: </a:t>
            </a:r>
            <a:r>
              <a:rPr b="0" sz="1600"/>
              <a:t>Cây lúa nước, Cây ngô (bắp), Cây khoai lang, Đậu tương, Rau màu xuất khẩu.</a:t>
            </a:r>
          </a:p>
          <a:p>
            <a:pPr>
              <a:spcAft>
                <a:spcPts val="1000"/>
              </a:spcAft>
              <a:defRPr sz="1600" b="1">
                <a:solidFill>
                  <a:srgbClr val="1A2421"/>
                </a:solidFill>
                <a:latin typeface="Segoe UI"/>
              </a:defRPr>
            </a:pPr>
            <a:r>
              <a:t>• Theo từng mùa vụ: </a:t>
            </a:r>
            <a:r>
              <a:rPr b="0" sz="1600"/>
              <a:t>Vụ Đông Xuân, Vụ Hè Thu, Vụ Mùa (đảm bảo không lẫn lộn chi phí giữa các vụ gối nhau).</a:t>
            </a:r>
          </a:p>
          <a:p>
            <a:pPr>
              <a:spcAft>
                <a:spcPts val="1000"/>
              </a:spcAft>
              <a:defRPr sz="1600" b="1">
                <a:solidFill>
                  <a:srgbClr val="1A2421"/>
                </a:solidFill>
                <a:latin typeface="Segoe UI"/>
              </a:defRPr>
            </a:pPr>
            <a:r>
              <a:t>• Theo từng vùng / Đội sản xuất: </a:t>
            </a:r>
            <a:r>
              <a:rPr b="0" sz="1600"/>
              <a:t>Từng nông trường, đội sản xuất hoặc từng cánh đồng lớn có cùng điều kiện canh tác.</a:t>
            </a:r>
          </a:p>
          <a:p>
            <a:pPr>
              <a:spcAft>
                <a:spcPts val="1000"/>
              </a:spcAft>
              <a:defRPr sz="1600" b="1">
                <a:solidFill>
                  <a:srgbClr val="1A2421"/>
                </a:solidFill>
                <a:latin typeface="Segoe UI"/>
              </a:defRPr>
            </a:pPr>
            <a:r>
              <a:t>• Theo từng thời kỳ chi phí: </a:t>
            </a:r>
            <a:r>
              <a:rPr b="0" sz="1600"/>
              <a:t>Tách riêng chi phí làm đất, gieo cấy, chăm sóc và chi phí thu hoạch.</a:t>
            </a:r>
          </a:p>
        </p:txBody>
      </p:sp>
      <p:sp>
        <p:nvSpPr>
          <p:cNvPr id="12" name="Rounded Rectangle 11"/>
          <p:cNvSpPr/>
          <p:nvPr/>
        </p:nvSpPr>
        <p:spPr>
          <a:xfrm>
            <a:off x="6217920" y="1280160"/>
            <a:ext cx="5212080" cy="4937760"/>
          </a:xfrm>
          <a:prstGeom prst="roundRect">
            <a:avLst/>
          </a:prstGeom>
          <a:solidFill>
            <a:srgbClr val="F5F9F6"/>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17320"/>
            <a:ext cx="4846320" cy="4572000"/>
          </a:xfrm>
          <a:prstGeom prst="rect">
            <a:avLst/>
          </a:prstGeom>
          <a:noFill/>
        </p:spPr>
        <p:txBody>
          <a:bodyPr wrap="square">
            <a:spAutoFit/>
          </a:bodyPr>
          <a:lstStyle/>
          <a:p>
            <a:pPr>
              <a:spcAft>
                <a:spcPts val="1400"/>
              </a:spcAft>
              <a:defRPr sz="1800" b="1">
                <a:solidFill>
                  <a:srgbClr val="123524"/>
                </a:solidFill>
                <a:latin typeface="Segoe UI"/>
              </a:defRPr>
            </a:pPr>
            <a:r>
              <a:t>2. Đối Tượng Tính Giá Thành</a:t>
            </a:r>
          </a:p>
          <a:p>
            <a:pPr>
              <a:spcAft>
                <a:spcPts val="1000"/>
              </a:spcAft>
              <a:defRPr sz="1600" b="1">
                <a:solidFill>
                  <a:srgbClr val="123524"/>
                </a:solidFill>
                <a:latin typeface="Segoe UI"/>
              </a:defRPr>
            </a:pPr>
            <a:r>
              <a:t>✔ Sản phẩm chính hoàn thành: </a:t>
            </a:r>
            <a:r>
              <a:rPr b="0" sz="1600">
                <a:solidFill>
                  <a:srgbClr val="1A2421"/>
                </a:solidFill>
              </a:rPr>
              <a:t>Là 1 kg hoặc 1 tấn nông sản chính thu hoạch đã phơi sấy đạt chuẩn (Thóc khô, Ngô hạt).</a:t>
            </a:r>
          </a:p>
          <a:p>
            <a:pPr>
              <a:spcAft>
                <a:spcPts val="1000"/>
              </a:spcAft>
              <a:defRPr sz="1600" b="1">
                <a:solidFill>
                  <a:srgbClr val="123524"/>
                </a:solidFill>
                <a:latin typeface="Segoe UI"/>
              </a:defRPr>
            </a:pPr>
            <a:r>
              <a:t>✔ Thời điểm tính giá thành: </a:t>
            </a:r>
            <a:r>
              <a:rPr b="0" sz="1600">
                <a:solidFill>
                  <a:srgbClr val="1A2421"/>
                </a:solidFill>
              </a:rPr>
              <a:t>Tiến hành tính giá thành khi kết thúc kỳ thu hoạch của từng mùa vụ cây trồng.</a:t>
            </a:r>
          </a:p>
          <a:p>
            <a:pPr>
              <a:spcAft>
                <a:spcPts val="1000"/>
              </a:spcAft>
              <a:defRPr sz="1600" b="1">
                <a:solidFill>
                  <a:srgbClr val="123524"/>
                </a:solidFill>
                <a:latin typeface="Segoe UI"/>
              </a:defRPr>
            </a:pPr>
            <a:r>
              <a:t>✔ Chi phí dở dang cuối kỳ: </a:t>
            </a:r>
            <a:r>
              <a:rPr b="0" sz="1600">
                <a:solidFill>
                  <a:srgbClr val="1A2421"/>
                </a:solidFill>
              </a:rPr>
              <a:t>Là toàn bộ chi phí đã đầu tư cho diện tích cây trồng còn trên đồng ruộng chưa đến kỳ thu hoạch.</a:t>
            </a:r>
          </a:p>
          <a:p>
            <a:pPr>
              <a:spcAft>
                <a:spcPts val="1000"/>
              </a:spcAft>
              <a:defRPr sz="1600" b="1">
                <a:solidFill>
                  <a:srgbClr val="123524"/>
                </a:solidFill>
                <a:latin typeface="Segoe UI"/>
              </a:defRPr>
            </a:pPr>
            <a:r>
              <a:t>✔ Quy định đơn vị tính: </a:t>
            </a:r>
            <a:r>
              <a:rPr b="0" sz="1600">
                <a:solidFill>
                  <a:srgbClr val="1A2421"/>
                </a:solidFill>
              </a:rPr>
              <a:t>Thống nhất đơn vị đo lường theo Tiêu chuẩn quốc gia (kg, tấn, bao tiêu chuẩn).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7772400" cy="256032"/>
          </a:xfrm>
          <a:prstGeom prst="rect">
            <a:avLst/>
          </a:prstGeom>
          <a:noFill/>
        </p:spPr>
        <p:txBody>
          <a:bodyPr wrap="square" lIns="0" tIns="0" rIns="0" bIns="0">
            <a:spAutoFit/>
          </a:bodyPr>
          <a:lstStyle/>
          <a:p>
            <a:pPr>
              <a:defRPr sz="1100" b="1">
                <a:solidFill>
                  <a:srgbClr val="D48F18"/>
                </a:solidFill>
                <a:latin typeface="Segoe UI"/>
              </a:defRPr>
            </a:pPr>
            <a:r>
              <a:t>PHẦN IV: PHẦN HÀNH HẠCH TOÁN</a:t>
            </a:r>
          </a:p>
        </p:txBody>
      </p:sp>
      <p:sp>
        <p:nvSpPr>
          <p:cNvPr id="5" name="TextBox 4"/>
          <p:cNvSpPr txBox="1"/>
          <p:nvPr/>
        </p:nvSpPr>
        <p:spPr>
          <a:xfrm>
            <a:off x="9875520" y="91440"/>
            <a:ext cx="1584655" cy="256032"/>
          </a:xfrm>
          <a:prstGeom prst="rect">
            <a:avLst/>
          </a:prstGeom>
          <a:noFill/>
        </p:spPr>
        <p:txBody>
          <a:bodyPr wrap="none" lIns="0" tIns="0" rIns="0" bIns="0">
            <a:spAutoFit/>
          </a:bodyPr>
          <a:lstStyle/>
          <a:p>
            <a:pPr algn="r">
              <a:defRPr sz="1100" b="1">
                <a:solidFill>
                  <a:srgbClr val="FFFFFF"/>
                </a:solidFill>
                <a:latin typeface="Segoe UI"/>
              </a:defRPr>
            </a:pPr>
            <a:r>
              <a:t>Slide 06/15</a:t>
            </a:r>
          </a:p>
        </p:txBody>
      </p:sp>
      <p:sp>
        <p:nvSpPr>
          <p:cNvPr id="6" name="TextBox 5"/>
          <p:cNvSpPr txBox="1"/>
          <p:nvPr/>
        </p:nvSpPr>
        <p:spPr>
          <a:xfrm>
            <a:off x="731520" y="347472"/>
            <a:ext cx="10698480" cy="411480"/>
          </a:xfrm>
          <a:prstGeom prst="rect">
            <a:avLst/>
          </a:prstGeom>
          <a:noFill/>
        </p:spPr>
        <p:txBody>
          <a:bodyPr wrap="square" lIns="0" tIns="0" rIns="0" bIns="0">
            <a:spAutoFit/>
          </a:bodyPr>
          <a:lstStyle/>
          <a:p>
            <a:pPr>
              <a:defRPr sz="2000" b="1">
                <a:solidFill>
                  <a:srgbClr val="FFFFFF"/>
                </a:solidFill>
                <a:latin typeface="Segoe UI"/>
              </a:defRPr>
            </a:pPr>
            <a:r>
              <a:t>Giai Đoạn 1: Hạch Toán Chi Phí NVL Trực Tiếp (TK 621)</a:t>
            </a:r>
          </a:p>
        </p:txBody>
      </p:sp>
      <p:sp>
        <p:nvSpPr>
          <p:cNvPr id="7" name="TextBox 6"/>
          <p:cNvSpPr txBox="1"/>
          <p:nvPr/>
        </p:nvSpPr>
        <p:spPr>
          <a:xfrm>
            <a:off x="731520" y="777240"/>
            <a:ext cx="10698480" cy="228600"/>
          </a:xfrm>
          <a:prstGeom prst="rect">
            <a:avLst/>
          </a:prstGeom>
          <a:noFill/>
        </p:spPr>
        <p:txBody>
          <a:bodyPr wrap="square" lIns="0" tIns="0" rIns="0" bIns="0">
            <a:spAutoFit/>
          </a:bodyPr>
          <a:lstStyle/>
          <a:p>
            <a:pPr>
              <a:defRPr sz="1100">
                <a:solidFill>
                  <a:srgbClr val="CDE4D7"/>
                </a:solidFill>
                <a:latin typeface="Segoe UI"/>
              </a:defRPr>
            </a:pPr>
            <a:r>
              <a:t>Kỹ thuật định khoản chi phí hạt giống, phân bón lót, phân bón thúc và thuốc bảo vệ thực vật</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1000">
                <a:solidFill>
                  <a:srgbClr val="55625C"/>
                </a:solidFill>
                <a:latin typeface="Segoe UI"/>
              </a:defRPr>
            </a:pPr>
            <a:r>
              <a:t>Kế toán Doanh nghiệp Nông nghiệp • Cây trồng ngắn ngày • Theo Thông tư 99/2025/TT-BTC ngày 27/10/2025 của Bộ Tài chính</a:t>
            </a:r>
          </a:p>
        </p:txBody>
      </p:sp>
      <p:sp>
        <p:nvSpPr>
          <p:cNvPr id="10" name="Rounded Rectangle 9"/>
          <p:cNvSpPr/>
          <p:nvPr/>
        </p:nvSpPr>
        <p:spPr>
          <a:xfrm>
            <a:off x="731520" y="1280160"/>
            <a:ext cx="5212080" cy="4937760"/>
          </a:xfrm>
          <a:prstGeom prst="roundRect">
            <a:avLst/>
          </a:prstGeom>
          <a:solidFill>
            <a:srgbClr val="EEF6F0"/>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417320"/>
            <a:ext cx="4846320" cy="4572000"/>
          </a:xfrm>
          <a:prstGeom prst="rect">
            <a:avLst/>
          </a:prstGeom>
          <a:noFill/>
        </p:spPr>
        <p:txBody>
          <a:bodyPr wrap="square">
            <a:spAutoFit/>
          </a:bodyPr>
          <a:lstStyle/>
          <a:p>
            <a:pPr>
              <a:spcAft>
                <a:spcPts val="1200"/>
              </a:spcAft>
              <a:defRPr sz="1800" b="1">
                <a:solidFill>
                  <a:srgbClr val="123524"/>
                </a:solidFill>
                <a:latin typeface="Segoe UI"/>
              </a:defRPr>
            </a:pPr>
            <a:r>
              <a:t>1. Xuất Kho Hạt Giống &amp; Phân Bón</a:t>
            </a:r>
          </a:p>
          <a:p>
            <a:pPr>
              <a:defRPr sz="1600" b="1">
                <a:solidFill>
                  <a:srgbClr val="123524"/>
                </a:solidFill>
                <a:latin typeface="Segoe UI"/>
              </a:defRPr>
            </a:pPr>
            <a:r>
              <a:t>• Xuất hạt giống lúa, ngô ra gieo cấy:</a:t>
            </a:r>
          </a:p>
          <a:p>
            <a:pPr>
              <a:spcAft>
                <a:spcPts val="1000"/>
              </a:spcAft>
              <a:defRPr sz="1500">
                <a:solidFill>
                  <a:srgbClr val="1A2421"/>
                </a:solidFill>
                <a:latin typeface="Consolas"/>
              </a:defRPr>
            </a:pPr>
            <a:r>
              <a:t>Nợ TK 621 (Chi tiết Lúa vụ Đông Xuân)</a:t>
            </a:r>
            <a:br/>
            <a:r>
              <a:t>    Có TK 1521 (Hạt giống cây trồng)</a:t>
            </a:r>
          </a:p>
          <a:p>
            <a:pPr>
              <a:defRPr sz="1600" b="1">
                <a:solidFill>
                  <a:srgbClr val="123524"/>
                </a:solidFill>
                <a:latin typeface="Segoe UI"/>
              </a:defRPr>
            </a:pPr>
            <a:r>
              <a:t>• Xuất phân bón lót (lân, vôi bột, phân chuồng):</a:t>
            </a:r>
          </a:p>
          <a:p>
            <a:pPr>
              <a:spcAft>
                <a:spcPts val="1000"/>
              </a:spcAft>
              <a:defRPr sz="1500">
                <a:solidFill>
                  <a:srgbClr val="1A2421"/>
                </a:solidFill>
                <a:latin typeface="Consolas"/>
              </a:defRPr>
            </a:pPr>
            <a:r>
              <a:t>Nợ TK 621 (chi tiết từng cánh đồng)</a:t>
            </a:r>
            <a:br/>
            <a:r>
              <a:t>    Có TK 1522 (Phân bón nông nghiệp)</a:t>
            </a:r>
          </a:p>
          <a:p>
            <a:pPr>
              <a:defRPr sz="1600" b="1">
                <a:solidFill>
                  <a:srgbClr val="123524"/>
                </a:solidFill>
                <a:latin typeface="Segoe UI"/>
              </a:defRPr>
            </a:pPr>
            <a:r>
              <a:t>• Xuất phân bón thúc (đạm Urê, NPK, Kali):</a:t>
            </a:r>
          </a:p>
          <a:p>
            <a:pPr>
              <a:spcAft>
                <a:spcPts val="1000"/>
              </a:spcAft>
              <a:defRPr sz="1500">
                <a:solidFill>
                  <a:srgbClr val="1A2421"/>
                </a:solidFill>
                <a:latin typeface="Consolas"/>
              </a:defRPr>
            </a:pPr>
            <a:r>
              <a:t>Nợ TK 621 (chi tiết thời kỳ sinh trưởng)</a:t>
            </a:r>
            <a:br/>
            <a:r>
              <a:t>    Có TK 1522 (Phân bón vô cơ)</a:t>
            </a:r>
          </a:p>
        </p:txBody>
      </p:sp>
      <p:sp>
        <p:nvSpPr>
          <p:cNvPr id="12" name="Rounded Rectangle 11"/>
          <p:cNvSpPr/>
          <p:nvPr/>
        </p:nvSpPr>
        <p:spPr>
          <a:xfrm>
            <a:off x="6217920" y="1280160"/>
            <a:ext cx="5212080" cy="4937760"/>
          </a:xfrm>
          <a:prstGeom prst="roundRect">
            <a:avLst/>
          </a:prstGeom>
          <a:solidFill>
            <a:srgbClr val="F5F9F6"/>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17320"/>
            <a:ext cx="4846320" cy="4572000"/>
          </a:xfrm>
          <a:prstGeom prst="rect">
            <a:avLst/>
          </a:prstGeom>
          <a:noFill/>
        </p:spPr>
        <p:txBody>
          <a:bodyPr wrap="square">
            <a:spAutoFit/>
          </a:bodyPr>
          <a:lstStyle/>
          <a:p>
            <a:pPr>
              <a:spcAft>
                <a:spcPts val="1200"/>
              </a:spcAft>
              <a:defRPr sz="1800" b="1">
                <a:solidFill>
                  <a:srgbClr val="123524"/>
                </a:solidFill>
                <a:latin typeface="Segoe UI"/>
              </a:defRPr>
            </a:pPr>
            <a:r>
              <a:t>2. Thuốc BVTV &amp; Mua Dùng Ngay</a:t>
            </a:r>
          </a:p>
          <a:p>
            <a:pPr>
              <a:defRPr sz="1600" b="1">
                <a:solidFill>
                  <a:srgbClr val="123524"/>
                </a:solidFill>
                <a:latin typeface="Segoe UI"/>
              </a:defRPr>
            </a:pPr>
            <a:r>
              <a:t>• Xuất kho thuốc trừ rầy, trừ sâu, thuốc diệt cỏ:</a:t>
            </a:r>
          </a:p>
          <a:p>
            <a:pPr>
              <a:spcAft>
                <a:spcPts val="1000"/>
              </a:spcAft>
              <a:defRPr sz="1500">
                <a:solidFill>
                  <a:srgbClr val="1A2421"/>
                </a:solidFill>
                <a:latin typeface="Consolas"/>
              </a:defRPr>
            </a:pPr>
            <a:r>
              <a:t>Nợ TK 621 (Chi phí BVTV trực tiếp)</a:t>
            </a:r>
            <a:br/>
            <a:r>
              <a:t>    Có TK 152 (Thuốc bảo vệ thực vật)</a:t>
            </a:r>
          </a:p>
          <a:p>
            <a:pPr>
              <a:defRPr sz="1600" b="1">
                <a:solidFill>
                  <a:srgbClr val="123524"/>
                </a:solidFill>
                <a:latin typeface="Segoe UI"/>
              </a:defRPr>
            </a:pPr>
            <a:r>
              <a:t>• Mua phân bón, thuốc BVTV dùng ngay tại ruộng:</a:t>
            </a:r>
          </a:p>
          <a:p>
            <a:pPr>
              <a:spcAft>
                <a:spcPts val="1000"/>
              </a:spcAft>
              <a:defRPr sz="1500">
                <a:solidFill>
                  <a:srgbClr val="1A2421"/>
                </a:solidFill>
                <a:latin typeface="Consolas"/>
              </a:defRPr>
            </a:pPr>
            <a:r>
              <a:t>Nợ TK 621 (Giá mua chưa thuế)</a:t>
            </a:r>
            <a:br/>
            <a:r>
              <a:t>Nợ TK 133 (Thuế GTGT khấu trừ nếu có)</a:t>
            </a:r>
            <a:br/>
            <a:r>
              <a:t>    Có TK 111, 112, 331</a:t>
            </a:r>
          </a:p>
          <a:p>
            <a:pPr>
              <a:defRPr sz="1600" b="1">
                <a:solidFill>
                  <a:srgbClr val="123524"/>
                </a:solidFill>
                <a:latin typeface="Segoe UI"/>
              </a:defRPr>
            </a:pPr>
            <a:r>
              <a:t>• Nilon màng phủ, giàn leo, cọc đỡ cây:</a:t>
            </a:r>
          </a:p>
          <a:p>
            <a:pPr>
              <a:spcAft>
                <a:spcPts val="1000"/>
              </a:spcAft>
              <a:defRPr sz="1500">
                <a:solidFill>
                  <a:srgbClr val="1A2421"/>
                </a:solidFill>
                <a:latin typeface="Consolas"/>
              </a:defRPr>
            </a:pPr>
            <a:r>
              <a:t>Nợ TK 621 (nếu dùng 1 vụ)</a:t>
            </a:r>
            <a:br/>
            <a:r>
              <a:t>    Có TK 153 (hoặc Có TK 242 nếu dùng nhiều vụ)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7772400" cy="256032"/>
          </a:xfrm>
          <a:prstGeom prst="rect">
            <a:avLst/>
          </a:prstGeom>
          <a:noFill/>
        </p:spPr>
        <p:txBody>
          <a:bodyPr wrap="square" lIns="0" tIns="0" rIns="0" bIns="0">
            <a:spAutoFit/>
          </a:bodyPr>
          <a:lstStyle/>
          <a:p>
            <a:pPr>
              <a:defRPr sz="1100" b="1">
                <a:solidFill>
                  <a:srgbClr val="D48F18"/>
                </a:solidFill>
                <a:latin typeface="Segoe UI"/>
              </a:defRPr>
            </a:pPr>
            <a:r>
              <a:t>PHẦN IV: PHẦN HÀNH HẠCH TOÁN</a:t>
            </a:r>
          </a:p>
        </p:txBody>
      </p:sp>
      <p:sp>
        <p:nvSpPr>
          <p:cNvPr id="5" name="TextBox 4"/>
          <p:cNvSpPr txBox="1"/>
          <p:nvPr/>
        </p:nvSpPr>
        <p:spPr>
          <a:xfrm>
            <a:off x="9875520" y="91440"/>
            <a:ext cx="1584655" cy="256032"/>
          </a:xfrm>
          <a:prstGeom prst="rect">
            <a:avLst/>
          </a:prstGeom>
          <a:noFill/>
        </p:spPr>
        <p:txBody>
          <a:bodyPr wrap="none" lIns="0" tIns="0" rIns="0" bIns="0">
            <a:spAutoFit/>
          </a:bodyPr>
          <a:lstStyle/>
          <a:p>
            <a:pPr algn="r">
              <a:defRPr sz="1100" b="1">
                <a:solidFill>
                  <a:srgbClr val="FFFFFF"/>
                </a:solidFill>
                <a:latin typeface="Segoe UI"/>
              </a:defRPr>
            </a:pPr>
            <a:r>
              <a:t>Slide 07/15</a:t>
            </a:r>
          </a:p>
        </p:txBody>
      </p:sp>
      <p:sp>
        <p:nvSpPr>
          <p:cNvPr id="6" name="TextBox 5"/>
          <p:cNvSpPr txBox="1"/>
          <p:nvPr/>
        </p:nvSpPr>
        <p:spPr>
          <a:xfrm>
            <a:off x="731520" y="347472"/>
            <a:ext cx="10698480" cy="411480"/>
          </a:xfrm>
          <a:prstGeom prst="rect">
            <a:avLst/>
          </a:prstGeom>
          <a:noFill/>
        </p:spPr>
        <p:txBody>
          <a:bodyPr wrap="square" lIns="0" tIns="0" rIns="0" bIns="0">
            <a:spAutoFit/>
          </a:bodyPr>
          <a:lstStyle/>
          <a:p>
            <a:pPr>
              <a:defRPr sz="2000" b="1">
                <a:solidFill>
                  <a:srgbClr val="FFFFFF"/>
                </a:solidFill>
                <a:latin typeface="Segoe UI"/>
              </a:defRPr>
            </a:pPr>
            <a:r>
              <a:t>Giai Đoạn 1: Hạch Toán Chi Phí Nhân Công Trực Tiếp (TK 622)</a:t>
            </a:r>
          </a:p>
        </p:txBody>
      </p:sp>
      <p:sp>
        <p:nvSpPr>
          <p:cNvPr id="7" name="TextBox 6"/>
          <p:cNvSpPr txBox="1"/>
          <p:nvPr/>
        </p:nvSpPr>
        <p:spPr>
          <a:xfrm>
            <a:off x="731520" y="777240"/>
            <a:ext cx="10698480" cy="228600"/>
          </a:xfrm>
          <a:prstGeom prst="rect">
            <a:avLst/>
          </a:prstGeom>
          <a:noFill/>
        </p:spPr>
        <p:txBody>
          <a:bodyPr wrap="square" lIns="0" tIns="0" rIns="0" bIns="0">
            <a:spAutoFit/>
          </a:bodyPr>
          <a:lstStyle/>
          <a:p>
            <a:pPr>
              <a:defRPr sz="1100">
                <a:solidFill>
                  <a:srgbClr val="CDE4D7"/>
                </a:solidFill>
                <a:latin typeface="Segoe UI"/>
              </a:defRPr>
            </a:pPr>
            <a:r>
              <a:t>Định khoản tiền lương công nhân trồng trọt, trích bảo hiểm và tiền thuê nhân công thời vụ</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1000">
                <a:solidFill>
                  <a:srgbClr val="55625C"/>
                </a:solidFill>
                <a:latin typeface="Segoe UI"/>
              </a:defRPr>
            </a:pPr>
            <a:r>
              <a:t>Kế toán Doanh nghiệp Nông nghiệp • Cây trồng ngắn ngày • Theo Thông tư 99/2025/TT-BTC ngày 27/10/2025 của Bộ Tài chính</a:t>
            </a:r>
          </a:p>
        </p:txBody>
      </p:sp>
      <p:sp>
        <p:nvSpPr>
          <p:cNvPr id="10" name="Rounded Rectangle 9"/>
          <p:cNvSpPr/>
          <p:nvPr/>
        </p:nvSpPr>
        <p:spPr>
          <a:xfrm>
            <a:off x="731520" y="1280160"/>
            <a:ext cx="5212080" cy="4937760"/>
          </a:xfrm>
          <a:prstGeom prst="roundRect">
            <a:avLst/>
          </a:prstGeom>
          <a:solidFill>
            <a:srgbClr val="EEF6F0"/>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417320"/>
            <a:ext cx="4846320" cy="4572000"/>
          </a:xfrm>
          <a:prstGeom prst="rect">
            <a:avLst/>
          </a:prstGeom>
          <a:noFill/>
        </p:spPr>
        <p:txBody>
          <a:bodyPr wrap="square">
            <a:spAutoFit/>
          </a:bodyPr>
          <a:lstStyle/>
          <a:p>
            <a:pPr>
              <a:spcAft>
                <a:spcPts val="1200"/>
              </a:spcAft>
              <a:defRPr sz="1800" b="1">
                <a:solidFill>
                  <a:srgbClr val="123524"/>
                </a:solidFill>
                <a:latin typeface="Segoe UI"/>
              </a:defRPr>
            </a:pPr>
            <a:r>
              <a:t>1. Tiền Lương Công Nhân Trồng Trọt</a:t>
            </a:r>
          </a:p>
          <a:p>
            <a:pPr>
              <a:defRPr sz="1600" b="1">
                <a:solidFill>
                  <a:srgbClr val="123524"/>
                </a:solidFill>
                <a:latin typeface="Segoe UI"/>
              </a:defRPr>
            </a:pPr>
            <a:r>
              <a:t>• Lương công nhân gieo trồng, chăm sóc, gặt lúa:</a:t>
            </a:r>
          </a:p>
          <a:p>
            <a:pPr>
              <a:spcAft>
                <a:spcPts val="1000"/>
              </a:spcAft>
              <a:defRPr sz="1500">
                <a:solidFill>
                  <a:srgbClr val="1A2421"/>
                </a:solidFill>
                <a:latin typeface="Consolas"/>
              </a:defRPr>
            </a:pPr>
            <a:r>
              <a:t>Nợ TK 622 (Chi tiết vụ Lúa, vụ Ngô)</a:t>
            </a:r>
            <a:br/>
            <a:r>
              <a:t>    Có TK 334 (Phải trả người lao động)</a:t>
            </a:r>
          </a:p>
          <a:p>
            <a:pPr>
              <a:defRPr sz="1600" b="1">
                <a:solidFill>
                  <a:srgbClr val="123524"/>
                </a:solidFill>
                <a:latin typeface="Segoe UI"/>
              </a:defRPr>
            </a:pPr>
            <a:r>
              <a:t>• Trích BHXH, BHYT, KPCĐ, BHTN theo tỷ lệ 23.5%:</a:t>
            </a:r>
          </a:p>
          <a:p>
            <a:pPr>
              <a:spcAft>
                <a:spcPts val="1000"/>
              </a:spcAft>
              <a:defRPr sz="1500">
                <a:solidFill>
                  <a:srgbClr val="1A2421"/>
                </a:solidFill>
                <a:latin typeface="Consolas"/>
              </a:defRPr>
            </a:pPr>
            <a:r>
              <a:t>Nợ TK 622 (Tính vào chi phí sản xuất cây trồng)</a:t>
            </a:r>
            <a:br/>
            <a:r>
              <a:t>    Có TK 338 (3382, 3383, 3384, 3386)</a:t>
            </a:r>
          </a:p>
          <a:p>
            <a:pPr>
              <a:defRPr sz="1600" b="1">
                <a:solidFill>
                  <a:srgbClr val="123524"/>
                </a:solidFill>
                <a:latin typeface="Segoe UI"/>
              </a:defRPr>
            </a:pPr>
            <a:r>
              <a:t>• Phụ cấp làm thêm giờ, phụ cấp lưu động đồng ruộng:</a:t>
            </a:r>
          </a:p>
          <a:p>
            <a:pPr>
              <a:spcAft>
                <a:spcPts val="1000"/>
              </a:spcAft>
              <a:defRPr sz="1500">
                <a:solidFill>
                  <a:srgbClr val="1A2421"/>
                </a:solidFill>
                <a:latin typeface="Consolas"/>
              </a:defRPr>
            </a:pPr>
            <a:r>
              <a:t>Nợ TK 622 (Chi phí nhân công trực tiếp)</a:t>
            </a:r>
            <a:br/>
            <a:r>
              <a:t>    Có TK 334</a:t>
            </a:r>
          </a:p>
        </p:txBody>
      </p:sp>
      <p:sp>
        <p:nvSpPr>
          <p:cNvPr id="12" name="Rounded Rectangle 11"/>
          <p:cNvSpPr/>
          <p:nvPr/>
        </p:nvSpPr>
        <p:spPr>
          <a:xfrm>
            <a:off x="6217920" y="1280160"/>
            <a:ext cx="5212080" cy="4937760"/>
          </a:xfrm>
          <a:prstGeom prst="roundRect">
            <a:avLst/>
          </a:prstGeom>
          <a:solidFill>
            <a:srgbClr val="F5F9F6"/>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17320"/>
            <a:ext cx="4846320" cy="4572000"/>
          </a:xfrm>
          <a:prstGeom prst="rect">
            <a:avLst/>
          </a:prstGeom>
          <a:noFill/>
        </p:spPr>
        <p:txBody>
          <a:bodyPr wrap="square">
            <a:spAutoFit/>
          </a:bodyPr>
          <a:lstStyle/>
          <a:p>
            <a:pPr>
              <a:spcAft>
                <a:spcPts val="1200"/>
              </a:spcAft>
              <a:defRPr sz="1800" b="1">
                <a:solidFill>
                  <a:srgbClr val="123524"/>
                </a:solidFill>
                <a:latin typeface="Segoe UI"/>
              </a:defRPr>
            </a:pPr>
            <a:r>
              <a:t>2. Thuê Nhân Công Thời Vụ Mùa Gặt</a:t>
            </a:r>
          </a:p>
          <a:p>
            <a:pPr>
              <a:defRPr sz="1600" b="1">
                <a:solidFill>
                  <a:srgbClr val="123524"/>
                </a:solidFill>
                <a:latin typeface="Segoe UI"/>
              </a:defRPr>
            </a:pPr>
            <a:r>
              <a:t>• Khoán công nhật cấy lúa hoặc gặt lúa thời vụ:</a:t>
            </a:r>
          </a:p>
          <a:p>
            <a:pPr>
              <a:spcAft>
                <a:spcPts val="1000"/>
              </a:spcAft>
              <a:defRPr sz="1500">
                <a:solidFill>
                  <a:srgbClr val="1A2421"/>
                </a:solidFill>
                <a:latin typeface="Consolas"/>
              </a:defRPr>
            </a:pPr>
            <a:r>
              <a:t>Nợ TK 622 (Chi phí nhân công trực tiếp)</a:t>
            </a:r>
            <a:br/>
            <a:r>
              <a:t>    Có TK 111, 112 (Thanh toán tiền ngay)</a:t>
            </a:r>
            <a:br/>
            <a:r>
              <a:t>    Có TK 331 (Nếu trả qua đội trưởng thầu khoán)</a:t>
            </a:r>
          </a:p>
          <a:p>
            <a:pPr>
              <a:defRPr sz="1600" b="1">
                <a:solidFill>
                  <a:srgbClr val="123524"/>
                </a:solidFill>
                <a:latin typeface="Segoe UI"/>
              </a:defRPr>
            </a:pPr>
            <a:r>
              <a:t>• Khấu trừ thuế TNCN 10% lao động thời vụ (nếu có):</a:t>
            </a:r>
          </a:p>
          <a:p>
            <a:pPr>
              <a:spcAft>
                <a:spcPts val="1000"/>
              </a:spcAft>
              <a:defRPr sz="1500">
                <a:solidFill>
                  <a:srgbClr val="1A2421"/>
                </a:solidFill>
                <a:latin typeface="Consolas"/>
              </a:defRPr>
            </a:pPr>
            <a:r>
              <a:t>Nợ TK 622 (Tổng chi phí nhân công theo hợp đồng)</a:t>
            </a:r>
            <a:br/>
            <a:r>
              <a:t>    Có TK 3335 (Thuế TNCN khấu trừ nộp ngân sách)</a:t>
            </a:r>
            <a:br/>
            <a:r>
              <a:t>    Có TK 111, 112 (Số tiền thực trả công nhân)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7772400" cy="256032"/>
          </a:xfrm>
          <a:prstGeom prst="rect">
            <a:avLst/>
          </a:prstGeom>
          <a:noFill/>
        </p:spPr>
        <p:txBody>
          <a:bodyPr wrap="square" lIns="0" tIns="0" rIns="0" bIns="0">
            <a:spAutoFit/>
          </a:bodyPr>
          <a:lstStyle/>
          <a:p>
            <a:pPr>
              <a:defRPr sz="1100" b="1">
                <a:solidFill>
                  <a:srgbClr val="D48F18"/>
                </a:solidFill>
                <a:latin typeface="Segoe UI"/>
              </a:defRPr>
            </a:pPr>
            <a:r>
              <a:t>PHẦN IV: PHẦN HÀNH HẠCH TOÁN</a:t>
            </a:r>
          </a:p>
        </p:txBody>
      </p:sp>
      <p:sp>
        <p:nvSpPr>
          <p:cNvPr id="5" name="TextBox 4"/>
          <p:cNvSpPr txBox="1"/>
          <p:nvPr/>
        </p:nvSpPr>
        <p:spPr>
          <a:xfrm>
            <a:off x="9875520" y="91440"/>
            <a:ext cx="1584655" cy="256032"/>
          </a:xfrm>
          <a:prstGeom prst="rect">
            <a:avLst/>
          </a:prstGeom>
          <a:noFill/>
        </p:spPr>
        <p:txBody>
          <a:bodyPr wrap="none" lIns="0" tIns="0" rIns="0" bIns="0">
            <a:spAutoFit/>
          </a:bodyPr>
          <a:lstStyle/>
          <a:p>
            <a:pPr algn="r">
              <a:defRPr sz="1100" b="1">
                <a:solidFill>
                  <a:srgbClr val="FFFFFF"/>
                </a:solidFill>
                <a:latin typeface="Segoe UI"/>
              </a:defRPr>
            </a:pPr>
            <a:r>
              <a:t>Slide 08/15</a:t>
            </a:r>
          </a:p>
        </p:txBody>
      </p:sp>
      <p:sp>
        <p:nvSpPr>
          <p:cNvPr id="6" name="TextBox 5"/>
          <p:cNvSpPr txBox="1"/>
          <p:nvPr/>
        </p:nvSpPr>
        <p:spPr>
          <a:xfrm>
            <a:off x="731520" y="347472"/>
            <a:ext cx="10698480" cy="411480"/>
          </a:xfrm>
          <a:prstGeom prst="rect">
            <a:avLst/>
          </a:prstGeom>
          <a:noFill/>
        </p:spPr>
        <p:txBody>
          <a:bodyPr wrap="square" lIns="0" tIns="0" rIns="0" bIns="0">
            <a:spAutoFit/>
          </a:bodyPr>
          <a:lstStyle/>
          <a:p>
            <a:pPr>
              <a:defRPr sz="2000" b="1">
                <a:solidFill>
                  <a:srgbClr val="FFFFFF"/>
                </a:solidFill>
                <a:latin typeface="Segoe UI"/>
              </a:defRPr>
            </a:pPr>
            <a:r>
              <a:t>Giai Đoạn 1: Hạch Toán Chi Phí Sản Xuất Chung (TK 627)</a:t>
            </a:r>
          </a:p>
        </p:txBody>
      </p:sp>
      <p:sp>
        <p:nvSpPr>
          <p:cNvPr id="7" name="TextBox 6"/>
          <p:cNvSpPr txBox="1"/>
          <p:nvPr/>
        </p:nvSpPr>
        <p:spPr>
          <a:xfrm>
            <a:off x="731520" y="777240"/>
            <a:ext cx="10698480" cy="228600"/>
          </a:xfrm>
          <a:prstGeom prst="rect">
            <a:avLst/>
          </a:prstGeom>
          <a:noFill/>
        </p:spPr>
        <p:txBody>
          <a:bodyPr wrap="square" lIns="0" tIns="0" rIns="0" bIns="0">
            <a:spAutoFit/>
          </a:bodyPr>
          <a:lstStyle/>
          <a:p>
            <a:pPr>
              <a:defRPr sz="1100">
                <a:solidFill>
                  <a:srgbClr val="CDE4D7"/>
                </a:solidFill>
                <a:latin typeface="Segoe UI"/>
              </a:defRPr>
            </a:pPr>
            <a:r>
              <a:t>Tiếp nhận dịch vụ cơ giới, trạm bơm tưới tiêu từ SXKD phụ và chi phí quản lý đội trồng trọt</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1000">
                <a:solidFill>
                  <a:srgbClr val="55625C"/>
                </a:solidFill>
                <a:latin typeface="Segoe UI"/>
              </a:defRPr>
            </a:pPr>
            <a:r>
              <a:t>Kế toán Doanh nghiệp Nông nghiệp • Cây trồng ngắn ngày • Theo Thông tư 99/2025/TT-BTC ngày 27/10/2025 của Bộ Tài chính</a:t>
            </a:r>
          </a:p>
        </p:txBody>
      </p:sp>
      <p:sp>
        <p:nvSpPr>
          <p:cNvPr id="10" name="Rounded Rectangle 9"/>
          <p:cNvSpPr/>
          <p:nvPr/>
        </p:nvSpPr>
        <p:spPr>
          <a:xfrm>
            <a:off x="731520" y="1280160"/>
            <a:ext cx="5212080" cy="4937760"/>
          </a:xfrm>
          <a:prstGeom prst="roundRect">
            <a:avLst/>
          </a:prstGeom>
          <a:solidFill>
            <a:srgbClr val="EEF6F0"/>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417320"/>
            <a:ext cx="4846320" cy="4572000"/>
          </a:xfrm>
          <a:prstGeom prst="rect">
            <a:avLst/>
          </a:prstGeom>
          <a:noFill/>
        </p:spPr>
        <p:txBody>
          <a:bodyPr wrap="square">
            <a:spAutoFit/>
          </a:bodyPr>
          <a:lstStyle/>
          <a:p>
            <a:pPr>
              <a:spcAft>
                <a:spcPts val="1200"/>
              </a:spcAft>
              <a:defRPr sz="1800" b="1">
                <a:solidFill>
                  <a:srgbClr val="123524"/>
                </a:solidFill>
                <a:latin typeface="Segoe UI"/>
              </a:defRPr>
            </a:pPr>
            <a:r>
              <a:t>1. Nhận Dịch Vụ Cơ Giới &amp; Trạm Bơm (SX Phụ)</a:t>
            </a:r>
          </a:p>
          <a:p>
            <a:pPr>
              <a:defRPr sz="1600" b="1">
                <a:solidFill>
                  <a:srgbClr val="123524"/>
                </a:solidFill>
                <a:latin typeface="Segoe UI"/>
              </a:defRPr>
            </a:pPr>
            <a:r>
              <a:t>• Nhận dịch vụ cày bừa đất từ Đội Cơ giới:</a:t>
            </a:r>
          </a:p>
          <a:p>
            <a:pPr>
              <a:spcAft>
                <a:spcPts val="1000"/>
              </a:spcAft>
              <a:defRPr sz="1500">
                <a:solidFill>
                  <a:srgbClr val="1A2421"/>
                </a:solidFill>
                <a:latin typeface="Consolas"/>
              </a:defRPr>
            </a:pPr>
            <a:r>
              <a:t>Nợ TK 627 (hoặc Nợ TK 621 nếu phân bổ thẳng)</a:t>
            </a:r>
            <a:br/>
            <a:r>
              <a:t>    Có TK 154 (1541 - Đội máy kéo, cơ giới)</a:t>
            </a:r>
          </a:p>
          <a:p>
            <a:pPr>
              <a:defRPr sz="1600" b="1">
                <a:solidFill>
                  <a:srgbClr val="123524"/>
                </a:solidFill>
                <a:latin typeface="Segoe UI"/>
              </a:defRPr>
            </a:pPr>
            <a:r>
              <a:t>• Nhận dịch vụ bơm tưới/tiêu nước từ Trạm Bơm:</a:t>
            </a:r>
          </a:p>
          <a:p>
            <a:pPr>
              <a:spcAft>
                <a:spcPts val="1000"/>
              </a:spcAft>
              <a:defRPr sz="1500">
                <a:solidFill>
                  <a:srgbClr val="1A2421"/>
                </a:solidFill>
                <a:latin typeface="Consolas"/>
              </a:defRPr>
            </a:pPr>
            <a:r>
              <a:t>Nợ TK 627 (Chi phí thủy nông chung trang trại)</a:t>
            </a:r>
            <a:br/>
            <a:r>
              <a:t>    Có TK 154 (1544 - Trạm bơm tưới tiêu)</a:t>
            </a:r>
          </a:p>
          <a:p>
            <a:pPr>
              <a:defRPr sz="1600" b="1">
                <a:solidFill>
                  <a:srgbClr val="123524"/>
                </a:solidFill>
                <a:latin typeface="Segoe UI"/>
              </a:defRPr>
            </a:pPr>
            <a:r>
              <a:t>• Nhận dịch vụ vận chuyển phân bón từ Đội Xe:</a:t>
            </a:r>
          </a:p>
          <a:p>
            <a:pPr>
              <a:spcAft>
                <a:spcPts val="1000"/>
              </a:spcAft>
              <a:defRPr sz="1500">
                <a:solidFill>
                  <a:srgbClr val="1A2421"/>
                </a:solidFill>
                <a:latin typeface="Consolas"/>
              </a:defRPr>
            </a:pPr>
            <a:r>
              <a:t>Nợ TK 627 (hoặc Nợ 621)</a:t>
            </a:r>
            <a:br/>
            <a:r>
              <a:t>    Có TK 154 (1542 - Đội vận tải nông trường)</a:t>
            </a:r>
          </a:p>
        </p:txBody>
      </p:sp>
      <p:sp>
        <p:nvSpPr>
          <p:cNvPr id="12" name="Rounded Rectangle 11"/>
          <p:cNvSpPr/>
          <p:nvPr/>
        </p:nvSpPr>
        <p:spPr>
          <a:xfrm>
            <a:off x="6217920" y="1280160"/>
            <a:ext cx="5212080" cy="4937760"/>
          </a:xfrm>
          <a:prstGeom prst="roundRect">
            <a:avLst/>
          </a:prstGeom>
          <a:solidFill>
            <a:srgbClr val="F5F9F6"/>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17320"/>
            <a:ext cx="4846320" cy="4572000"/>
          </a:xfrm>
          <a:prstGeom prst="rect">
            <a:avLst/>
          </a:prstGeom>
          <a:noFill/>
        </p:spPr>
        <p:txBody>
          <a:bodyPr wrap="square">
            <a:spAutoFit/>
          </a:bodyPr>
          <a:lstStyle/>
          <a:p>
            <a:pPr>
              <a:spcAft>
                <a:spcPts val="1200"/>
              </a:spcAft>
              <a:defRPr sz="1800" b="1">
                <a:solidFill>
                  <a:srgbClr val="123524"/>
                </a:solidFill>
                <a:latin typeface="Segoe UI"/>
              </a:defRPr>
            </a:pPr>
            <a:r>
              <a:t>2. Khấu Hao TSCĐ &amp; Chi Phí Quản Lý Đội</a:t>
            </a:r>
          </a:p>
          <a:p>
            <a:pPr>
              <a:defRPr sz="1600" b="1">
                <a:solidFill>
                  <a:srgbClr val="123524"/>
                </a:solidFill>
                <a:latin typeface="Segoe UI"/>
              </a:defRPr>
            </a:pPr>
            <a:r>
              <a:t>• Khấu hao hệ thống kênh mương, nhà lưới, kho thóc:</a:t>
            </a:r>
          </a:p>
          <a:p>
            <a:pPr>
              <a:spcAft>
                <a:spcPts val="1000"/>
              </a:spcAft>
              <a:defRPr sz="1500">
                <a:solidFill>
                  <a:srgbClr val="1A2421"/>
                </a:solidFill>
                <a:latin typeface="Consolas"/>
              </a:defRPr>
            </a:pPr>
            <a:r>
              <a:t>Nợ TK 6274 (Khấu hao TSCĐ trang trại)</a:t>
            </a:r>
            <a:br/>
            <a:r>
              <a:t>    Có TK 214 (Hao mòn TSCĐ hữu hình)</a:t>
            </a:r>
          </a:p>
          <a:p>
            <a:pPr>
              <a:defRPr sz="1600" b="1">
                <a:solidFill>
                  <a:srgbClr val="123524"/>
                </a:solidFill>
                <a:latin typeface="Segoe UI"/>
              </a:defRPr>
            </a:pPr>
            <a:r>
              <a:t>• Lương đội trưởng đội sản xuất, nhân viên kỹ thuật:</a:t>
            </a:r>
          </a:p>
          <a:p>
            <a:pPr>
              <a:spcAft>
                <a:spcPts val="1000"/>
              </a:spcAft>
              <a:defRPr sz="1500">
                <a:solidFill>
                  <a:srgbClr val="1A2421"/>
                </a:solidFill>
                <a:latin typeface="Consolas"/>
              </a:defRPr>
            </a:pPr>
            <a:r>
              <a:t>Nợ TK 6271 (Lương nhân viên quản lý đội)</a:t>
            </a:r>
            <a:br/>
            <a:r>
              <a:t>    Có TK 334, 338 (Lương và trích BH 23.5%)</a:t>
            </a:r>
          </a:p>
          <a:p>
            <a:pPr>
              <a:defRPr sz="1600" b="1">
                <a:solidFill>
                  <a:srgbClr val="123524"/>
                </a:solidFill>
                <a:latin typeface="Segoe UI"/>
              </a:defRPr>
            </a:pPr>
            <a:r>
              <a:t>• Tiền điện bơm nước, dịch vụ mua ngoài:</a:t>
            </a:r>
          </a:p>
          <a:p>
            <a:pPr>
              <a:spcAft>
                <a:spcPts val="1000"/>
              </a:spcAft>
              <a:defRPr sz="1500">
                <a:solidFill>
                  <a:srgbClr val="1A2421"/>
                </a:solidFill>
                <a:latin typeface="Consolas"/>
              </a:defRPr>
            </a:pPr>
            <a:r>
              <a:t>Nợ TK 6277, Nợ TK 133 / Có TK 112, 331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7772400" cy="256032"/>
          </a:xfrm>
          <a:prstGeom prst="rect">
            <a:avLst/>
          </a:prstGeom>
          <a:noFill/>
        </p:spPr>
        <p:txBody>
          <a:bodyPr wrap="square" lIns="0" tIns="0" rIns="0" bIns="0">
            <a:spAutoFit/>
          </a:bodyPr>
          <a:lstStyle/>
          <a:p>
            <a:pPr>
              <a:defRPr sz="1100" b="1">
                <a:solidFill>
                  <a:srgbClr val="D48F18"/>
                </a:solidFill>
                <a:latin typeface="Segoe UI"/>
              </a:defRPr>
            </a:pPr>
            <a:r>
              <a:t>PHẦN IV: PHẦN HÀNH HẠCH TOÁN</a:t>
            </a:r>
          </a:p>
        </p:txBody>
      </p:sp>
      <p:sp>
        <p:nvSpPr>
          <p:cNvPr id="5" name="TextBox 4"/>
          <p:cNvSpPr txBox="1"/>
          <p:nvPr/>
        </p:nvSpPr>
        <p:spPr>
          <a:xfrm>
            <a:off x="9875520" y="91440"/>
            <a:ext cx="1584655" cy="256032"/>
          </a:xfrm>
          <a:prstGeom prst="rect">
            <a:avLst/>
          </a:prstGeom>
          <a:noFill/>
        </p:spPr>
        <p:txBody>
          <a:bodyPr wrap="none" lIns="0" tIns="0" rIns="0" bIns="0">
            <a:spAutoFit/>
          </a:bodyPr>
          <a:lstStyle/>
          <a:p>
            <a:pPr algn="r">
              <a:defRPr sz="1100" b="1">
                <a:solidFill>
                  <a:srgbClr val="FFFFFF"/>
                </a:solidFill>
                <a:latin typeface="Segoe UI"/>
              </a:defRPr>
            </a:pPr>
            <a:r>
              <a:t>Slide 09/15</a:t>
            </a:r>
          </a:p>
        </p:txBody>
      </p:sp>
      <p:sp>
        <p:nvSpPr>
          <p:cNvPr id="6" name="TextBox 5"/>
          <p:cNvSpPr txBox="1"/>
          <p:nvPr/>
        </p:nvSpPr>
        <p:spPr>
          <a:xfrm>
            <a:off x="731520" y="347472"/>
            <a:ext cx="10698480" cy="411480"/>
          </a:xfrm>
          <a:prstGeom prst="rect">
            <a:avLst/>
          </a:prstGeom>
          <a:noFill/>
        </p:spPr>
        <p:txBody>
          <a:bodyPr wrap="square" lIns="0" tIns="0" rIns="0" bIns="0">
            <a:spAutoFit/>
          </a:bodyPr>
          <a:lstStyle/>
          <a:p>
            <a:pPr>
              <a:defRPr sz="2000" b="1">
                <a:solidFill>
                  <a:srgbClr val="FFFFFF"/>
                </a:solidFill>
                <a:latin typeface="Segoe UI"/>
              </a:defRPr>
            </a:pPr>
            <a:r>
              <a:t>Giai Đoạn 2: Kết Chuyển Chi Phí Sang TK 154 Cuối Kỳ</a:t>
            </a:r>
          </a:p>
        </p:txBody>
      </p:sp>
      <p:sp>
        <p:nvSpPr>
          <p:cNvPr id="7" name="TextBox 6"/>
          <p:cNvSpPr txBox="1"/>
          <p:nvPr/>
        </p:nvSpPr>
        <p:spPr>
          <a:xfrm>
            <a:off x="731520" y="777240"/>
            <a:ext cx="10698480" cy="228600"/>
          </a:xfrm>
          <a:prstGeom prst="rect">
            <a:avLst/>
          </a:prstGeom>
          <a:noFill/>
        </p:spPr>
        <p:txBody>
          <a:bodyPr wrap="square" lIns="0" tIns="0" rIns="0" bIns="0">
            <a:spAutoFit/>
          </a:bodyPr>
          <a:lstStyle/>
          <a:p>
            <a:pPr>
              <a:defRPr sz="1100">
                <a:solidFill>
                  <a:srgbClr val="CDE4D7"/>
                </a:solidFill>
                <a:latin typeface="Segoe UI"/>
              </a:defRPr>
            </a:pPr>
            <a:r>
              <a:t>Quy trình tổng hợp chi phí sản xuất, xử lý chi phí vượt định mức và định phí máy móc nông nhàn</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1000">
                <a:solidFill>
                  <a:srgbClr val="55625C"/>
                </a:solidFill>
                <a:latin typeface="Segoe UI"/>
              </a:defRPr>
            </a:pPr>
            <a:r>
              <a:t>Kế toán Doanh nghiệp Nông nghiệp • Cây trồng ngắn ngày • Theo Thông tư 99/2025/TT-BTC ngày 27/10/2025 của Bộ Tài chính</a:t>
            </a:r>
          </a:p>
        </p:txBody>
      </p:sp>
      <p:sp>
        <p:nvSpPr>
          <p:cNvPr id="10" name="Rounded Rectangle 9"/>
          <p:cNvSpPr/>
          <p:nvPr/>
        </p:nvSpPr>
        <p:spPr>
          <a:xfrm>
            <a:off x="731520" y="1280160"/>
            <a:ext cx="5212080" cy="4937760"/>
          </a:xfrm>
          <a:prstGeom prst="roundRect">
            <a:avLst/>
          </a:prstGeom>
          <a:solidFill>
            <a:srgbClr val="EEF6F0"/>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417320"/>
            <a:ext cx="4846320" cy="4572000"/>
          </a:xfrm>
          <a:prstGeom prst="rect">
            <a:avLst/>
          </a:prstGeom>
          <a:noFill/>
        </p:spPr>
        <p:txBody>
          <a:bodyPr wrap="square">
            <a:spAutoFit/>
          </a:bodyPr>
          <a:lstStyle/>
          <a:p>
            <a:pPr>
              <a:spcAft>
                <a:spcPts val="1200"/>
              </a:spcAft>
              <a:defRPr sz="1800" b="1">
                <a:solidFill>
                  <a:srgbClr val="123524"/>
                </a:solidFill>
                <a:latin typeface="Segoe UI"/>
              </a:defRPr>
            </a:pPr>
            <a:r>
              <a:t>1. Kết Chuyển Chi Phí Hợp Lý Vào TK 154</a:t>
            </a:r>
          </a:p>
          <a:p>
            <a:pPr>
              <a:defRPr sz="1600" b="1">
                <a:solidFill>
                  <a:srgbClr val="123524"/>
                </a:solidFill>
                <a:latin typeface="Segoe UI"/>
              </a:defRPr>
            </a:pPr>
            <a:r>
              <a:t>• Kết chuyển Chi phí NVL trực tiếp (hợp lý):</a:t>
            </a:r>
          </a:p>
          <a:p>
            <a:pPr>
              <a:spcAft>
                <a:spcPts val="1000"/>
              </a:spcAft>
              <a:defRPr sz="1500">
                <a:solidFill>
                  <a:srgbClr val="1A2421"/>
                </a:solidFill>
                <a:latin typeface="Consolas"/>
              </a:defRPr>
            </a:pPr>
            <a:r>
              <a:t>Nợ TK 154 (Chi tiết Lúa vụ Hè Thu)</a:t>
            </a:r>
            <a:br/>
            <a:r>
              <a:t>    Có TK 621 (Chi phí NVL trực tiếp)</a:t>
            </a:r>
          </a:p>
          <a:p>
            <a:pPr>
              <a:defRPr sz="1600" b="1">
                <a:solidFill>
                  <a:srgbClr val="123524"/>
                </a:solidFill>
                <a:latin typeface="Segoe UI"/>
              </a:defRPr>
            </a:pPr>
            <a:r>
              <a:t>• Kết chuyển Chi phí Nhân công trực tiếp (hợp lý):</a:t>
            </a:r>
          </a:p>
          <a:p>
            <a:pPr>
              <a:spcAft>
                <a:spcPts val="1000"/>
              </a:spcAft>
              <a:defRPr sz="1500">
                <a:solidFill>
                  <a:srgbClr val="1A2421"/>
                </a:solidFill>
                <a:latin typeface="Consolas"/>
              </a:defRPr>
            </a:pPr>
            <a:r>
              <a:t>Nợ TK 154 (Chi phí nhân công định mức)</a:t>
            </a:r>
            <a:br/>
            <a:r>
              <a:t>    Có TK 622 (Chi phí nhân công trực tiếp)</a:t>
            </a:r>
          </a:p>
          <a:p>
            <a:pPr>
              <a:defRPr sz="1600" b="1">
                <a:solidFill>
                  <a:srgbClr val="123524"/>
                </a:solidFill>
                <a:latin typeface="Segoe UI"/>
              </a:defRPr>
            </a:pPr>
            <a:r>
              <a:t>• Phân bổ &amp; Kết chuyển Chi phí SXC theo công suất:</a:t>
            </a:r>
          </a:p>
          <a:p>
            <a:pPr>
              <a:spcAft>
                <a:spcPts val="1000"/>
              </a:spcAft>
              <a:defRPr sz="1500">
                <a:solidFill>
                  <a:srgbClr val="1A2421"/>
                </a:solidFill>
                <a:latin typeface="Consolas"/>
              </a:defRPr>
            </a:pPr>
            <a:r>
              <a:t>Nợ TK 154 (Biến phí + Định phí bình thường)</a:t>
            </a:r>
            <a:br/>
            <a:r>
              <a:t>    Có TK 627 (Chi phí sản xuất chung)</a:t>
            </a:r>
          </a:p>
        </p:txBody>
      </p:sp>
      <p:sp>
        <p:nvSpPr>
          <p:cNvPr id="12" name="Rounded Rectangle 11"/>
          <p:cNvSpPr/>
          <p:nvPr/>
        </p:nvSpPr>
        <p:spPr>
          <a:xfrm>
            <a:off x="6217920" y="1280160"/>
            <a:ext cx="5212080" cy="4937760"/>
          </a:xfrm>
          <a:prstGeom prst="roundRect">
            <a:avLst/>
          </a:prstGeom>
          <a:solidFill>
            <a:srgbClr val="F5F9F6"/>
          </a:solidFill>
          <a:ln w="12700">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17320"/>
            <a:ext cx="4846320" cy="4572000"/>
          </a:xfrm>
          <a:prstGeom prst="rect">
            <a:avLst/>
          </a:prstGeom>
          <a:noFill/>
        </p:spPr>
        <p:txBody>
          <a:bodyPr wrap="square">
            <a:spAutoFit/>
          </a:bodyPr>
          <a:lstStyle/>
          <a:p>
            <a:pPr>
              <a:spcAft>
                <a:spcPts val="1200"/>
              </a:spcAft>
              <a:defRPr sz="1800" b="1">
                <a:solidFill>
                  <a:srgbClr val="D48F18"/>
                </a:solidFill>
                <a:latin typeface="Segoe UI"/>
              </a:defRPr>
            </a:pPr>
            <a:r>
              <a:t>2. Xử Lý Chi Phí Loại Trừ (Thông Tư 99)</a:t>
            </a:r>
          </a:p>
          <a:p>
            <a:pPr>
              <a:defRPr sz="1600" b="1">
                <a:solidFill>
                  <a:srgbClr val="123524"/>
                </a:solidFill>
                <a:latin typeface="Segoe UI"/>
              </a:defRPr>
            </a:pPr>
            <a:r>
              <a:t>✔ Chi phí giống, phân bón tiêu hao vượt định mức:</a:t>
            </a:r>
          </a:p>
          <a:p>
            <a:pPr>
              <a:spcAft>
                <a:spcPts val="1000"/>
              </a:spcAft>
              <a:defRPr sz="1500">
                <a:solidFill>
                  <a:srgbClr val="1A2421"/>
                </a:solidFill>
                <a:latin typeface="Consolas"/>
              </a:defRPr>
            </a:pPr>
            <a:r>
              <a:t>Nợ TK 632 - Giá vốn hàng bán</a:t>
            </a:r>
            <a:br/>
            <a:r>
              <a:t>    Có TK 621 - Chi phí NVL trực tiếp</a:t>
            </a:r>
          </a:p>
          <a:p>
            <a:pPr>
              <a:defRPr sz="1600" b="1">
                <a:solidFill>
                  <a:srgbClr val="123524"/>
                </a:solidFill>
                <a:latin typeface="Segoe UI"/>
              </a:defRPr>
            </a:pPr>
            <a:r>
              <a:t>✔ Chi phí nhân công lãng phí / ngừng việc bất thường:</a:t>
            </a:r>
          </a:p>
          <a:p>
            <a:pPr>
              <a:spcAft>
                <a:spcPts val="1000"/>
              </a:spcAft>
              <a:defRPr sz="1500">
                <a:solidFill>
                  <a:srgbClr val="1A2421"/>
                </a:solidFill>
                <a:latin typeface="Consolas"/>
              </a:defRPr>
            </a:pPr>
            <a:r>
              <a:t>Nợ TK 632 - Giá vốn hàng bán</a:t>
            </a:r>
            <a:br/>
            <a:r>
              <a:t>    Có TK 622 - Chi phí nhân công trực tiếp</a:t>
            </a:r>
          </a:p>
          <a:p>
            <a:pPr>
              <a:defRPr sz="1600" b="1">
                <a:solidFill>
                  <a:srgbClr val="123524"/>
                </a:solidFill>
                <a:latin typeface="Segoe UI"/>
              </a:defRPr>
            </a:pPr>
            <a:r>
              <a:t>✔ Định phí SXC mùa nông nhàn (dưới công suất):</a:t>
            </a:r>
          </a:p>
          <a:p>
            <a:pPr>
              <a:spcAft>
                <a:spcPts val="1000"/>
              </a:spcAft>
              <a:defRPr sz="1500">
                <a:solidFill>
                  <a:srgbClr val="1A2421"/>
                </a:solidFill>
                <a:latin typeface="Consolas"/>
              </a:defRPr>
            </a:pPr>
            <a:r>
              <a:t>Nợ TK 632 - Giá vốn hàng bán</a:t>
            </a:r>
            <a:br/>
            <a:r>
              <a:t>    Có TK 627 - Chi phí sản xuất chung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7772400" cy="256032"/>
          </a:xfrm>
          <a:prstGeom prst="rect">
            <a:avLst/>
          </a:prstGeom>
          <a:noFill/>
        </p:spPr>
        <p:txBody>
          <a:bodyPr wrap="square" lIns="0" tIns="0" rIns="0" bIns="0">
            <a:spAutoFit/>
          </a:bodyPr>
          <a:lstStyle/>
          <a:p>
            <a:pPr>
              <a:defRPr sz="1100" b="1">
                <a:solidFill>
                  <a:srgbClr val="D48F18"/>
                </a:solidFill>
                <a:latin typeface="Segoe UI"/>
              </a:defRPr>
            </a:pPr>
            <a:r>
              <a:t>PHẦN V: KỸ THUẬT TÍNH GIÁ THÀNH</a:t>
            </a:r>
          </a:p>
        </p:txBody>
      </p:sp>
      <p:sp>
        <p:nvSpPr>
          <p:cNvPr id="5" name="TextBox 4"/>
          <p:cNvSpPr txBox="1"/>
          <p:nvPr/>
        </p:nvSpPr>
        <p:spPr>
          <a:xfrm>
            <a:off x="9875520" y="91440"/>
            <a:ext cx="1584655" cy="256032"/>
          </a:xfrm>
          <a:prstGeom prst="rect">
            <a:avLst/>
          </a:prstGeom>
          <a:noFill/>
        </p:spPr>
        <p:txBody>
          <a:bodyPr wrap="none" lIns="0" tIns="0" rIns="0" bIns="0">
            <a:spAutoFit/>
          </a:bodyPr>
          <a:lstStyle/>
          <a:p>
            <a:pPr algn="r">
              <a:defRPr sz="1100" b="1">
                <a:solidFill>
                  <a:srgbClr val="FFFFFF"/>
                </a:solidFill>
                <a:latin typeface="Segoe UI"/>
              </a:defRPr>
            </a:pPr>
            <a:r>
              <a:t>Slide 10/15</a:t>
            </a:r>
          </a:p>
        </p:txBody>
      </p:sp>
      <p:sp>
        <p:nvSpPr>
          <p:cNvPr id="6" name="TextBox 5"/>
          <p:cNvSpPr txBox="1"/>
          <p:nvPr/>
        </p:nvSpPr>
        <p:spPr>
          <a:xfrm>
            <a:off x="731520" y="347472"/>
            <a:ext cx="10698480" cy="411480"/>
          </a:xfrm>
          <a:prstGeom prst="rect">
            <a:avLst/>
          </a:prstGeom>
          <a:noFill/>
        </p:spPr>
        <p:txBody>
          <a:bodyPr wrap="square" lIns="0" tIns="0" rIns="0" bIns="0">
            <a:spAutoFit/>
          </a:bodyPr>
          <a:lstStyle/>
          <a:p>
            <a:pPr>
              <a:defRPr sz="2000" b="1">
                <a:solidFill>
                  <a:srgbClr val="FFFFFF"/>
                </a:solidFill>
                <a:latin typeface="Segoe UI"/>
              </a:defRPr>
            </a:pPr>
            <a:r>
              <a:t>Kế Toán Đánh Giá Sản Phẩm Dở Dang Cuối Kỳ</a:t>
            </a:r>
          </a:p>
        </p:txBody>
      </p:sp>
      <p:sp>
        <p:nvSpPr>
          <p:cNvPr id="7" name="TextBox 6"/>
          <p:cNvSpPr txBox="1"/>
          <p:nvPr/>
        </p:nvSpPr>
        <p:spPr>
          <a:xfrm>
            <a:off x="731520" y="777240"/>
            <a:ext cx="10698480" cy="228600"/>
          </a:xfrm>
          <a:prstGeom prst="rect">
            <a:avLst/>
          </a:prstGeom>
          <a:noFill/>
        </p:spPr>
        <p:txBody>
          <a:bodyPr wrap="square" lIns="0" tIns="0" rIns="0" bIns="0">
            <a:spAutoFit/>
          </a:bodyPr>
          <a:lstStyle/>
          <a:p>
            <a:pPr>
              <a:defRPr sz="1100">
                <a:solidFill>
                  <a:srgbClr val="CDE4D7"/>
                </a:solidFill>
                <a:latin typeface="Segoe UI"/>
              </a:defRPr>
            </a:pPr>
            <a:r>
              <a:t>Phương pháp kiểm kê diện tích và xác định giá trị chi phí dở dang chuyển sang niên độ sau</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1000">
                <a:solidFill>
                  <a:srgbClr val="55625C"/>
                </a:solidFill>
                <a:latin typeface="Segoe UI"/>
              </a:defRPr>
            </a:pPr>
            <a:r>
              <a:t>Kế toán Doanh nghiệp Nông nghiệp • Cây trồng ngắn ngày • Theo Thông tư 99/2025/TT-BTC ngày 27/10/2025 của Bộ Tài chính</a:t>
            </a:r>
          </a:p>
        </p:txBody>
      </p:sp>
      <p:sp>
        <p:nvSpPr>
          <p:cNvPr id="10" name="Rounded Rectangle 9"/>
          <p:cNvSpPr/>
          <p:nvPr/>
        </p:nvSpPr>
        <p:spPr>
          <a:xfrm>
            <a:off x="731520" y="1280160"/>
            <a:ext cx="5212080" cy="4937760"/>
          </a:xfrm>
          <a:prstGeom prst="roundRect">
            <a:avLst/>
          </a:prstGeom>
          <a:solidFill>
            <a:srgbClr val="EEF6F0"/>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417320"/>
            <a:ext cx="4846320" cy="4572000"/>
          </a:xfrm>
          <a:prstGeom prst="rect">
            <a:avLst/>
          </a:prstGeom>
          <a:noFill/>
        </p:spPr>
        <p:txBody>
          <a:bodyPr wrap="square">
            <a:spAutoFit/>
          </a:bodyPr>
          <a:lstStyle/>
          <a:p>
            <a:pPr>
              <a:spcAft>
                <a:spcPts val="1400"/>
              </a:spcAft>
              <a:defRPr sz="1800" b="1">
                <a:solidFill>
                  <a:srgbClr val="123524"/>
                </a:solidFill>
                <a:latin typeface="Segoe UI"/>
              </a:defRPr>
            </a:pPr>
            <a:r>
              <a:t>1. Bản Chất Chi Phí Dở Dang (Dc)</a:t>
            </a:r>
          </a:p>
          <a:p>
            <a:pPr>
              <a:spcAft>
                <a:spcPts val="1000"/>
              </a:spcAft>
              <a:defRPr sz="1600" b="1">
                <a:solidFill>
                  <a:srgbClr val="1A2421"/>
                </a:solidFill>
                <a:latin typeface="Segoe UI"/>
              </a:defRPr>
            </a:pPr>
            <a:r>
              <a:t>• Đối tượng dở dang: </a:t>
            </a:r>
            <a:r>
              <a:rPr b="0" sz="1600"/>
              <a:t>Là toàn bộ chi phí thực tế đã đầu tư cho diện tích cây trồng còn trên ruộng chưa thu hoạch tại thời điểm khóa sổ.</a:t>
            </a:r>
          </a:p>
          <a:p>
            <a:pPr>
              <a:spcAft>
                <a:spcPts val="1000"/>
              </a:spcAft>
              <a:defRPr sz="1600" b="1">
                <a:solidFill>
                  <a:srgbClr val="1A2421"/>
                </a:solidFill>
                <a:latin typeface="Segoe UI"/>
              </a:defRPr>
            </a:pPr>
            <a:r>
              <a:t>• Các khoản chi phí cấu thành: </a:t>
            </a:r>
            <a:r>
              <a:rPr b="0" sz="1600"/>
              <a:t>Gồm chi phí cày bừa làm đất ải, hạt giống gieo sạ, phân bón lót và công chăm sóc ban đầu.</a:t>
            </a:r>
          </a:p>
          <a:p>
            <a:pPr>
              <a:spcAft>
                <a:spcPts val="1000"/>
              </a:spcAft>
              <a:defRPr sz="1600" b="1">
                <a:solidFill>
                  <a:srgbClr val="1A2421"/>
                </a:solidFill>
                <a:latin typeface="Segoe UI"/>
              </a:defRPr>
            </a:pPr>
            <a:r>
              <a:t>• Đặc thù vụ Đông Xuân: </a:t>
            </a:r>
            <a:r>
              <a:rPr b="0" sz="1600"/>
              <a:t>Gieo trồng tháng 11-12 năm N nhưng thu hoạch tháng 3-4 năm N+1, toàn bộ chi phí cuối năm N là Dở dang ($D_c$).</a:t>
            </a:r>
          </a:p>
          <a:p>
            <a:pPr>
              <a:spcAft>
                <a:spcPts val="1000"/>
              </a:spcAft>
              <a:defRPr sz="1600" b="1">
                <a:solidFill>
                  <a:srgbClr val="1A2421"/>
                </a:solidFill>
                <a:latin typeface="Segoe UI"/>
              </a:defRPr>
            </a:pPr>
            <a:r>
              <a:t>• Phản ánh trên BCTC: </a:t>
            </a:r>
            <a:r>
              <a:rPr b="0" sz="1600"/>
              <a:t>Số dư Nợ TK 154 được trình bày tại chỉ tiêu 'Hàng tồn kho' trên Bảng cân đối kế toán.</a:t>
            </a:r>
          </a:p>
        </p:txBody>
      </p:sp>
      <p:sp>
        <p:nvSpPr>
          <p:cNvPr id="12" name="Rounded Rectangle 11"/>
          <p:cNvSpPr/>
          <p:nvPr/>
        </p:nvSpPr>
        <p:spPr>
          <a:xfrm>
            <a:off x="6217920" y="1280160"/>
            <a:ext cx="5212080" cy="4937760"/>
          </a:xfrm>
          <a:prstGeom prst="roundRect">
            <a:avLst/>
          </a:prstGeom>
          <a:solidFill>
            <a:srgbClr val="F5F9F6"/>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17320"/>
            <a:ext cx="4846320" cy="4572000"/>
          </a:xfrm>
          <a:prstGeom prst="rect">
            <a:avLst/>
          </a:prstGeom>
          <a:noFill/>
        </p:spPr>
        <p:txBody>
          <a:bodyPr wrap="square">
            <a:spAutoFit/>
          </a:bodyPr>
          <a:lstStyle/>
          <a:p>
            <a:pPr>
              <a:spcAft>
                <a:spcPts val="1400"/>
              </a:spcAft>
              <a:defRPr sz="1800" b="1">
                <a:solidFill>
                  <a:srgbClr val="123524"/>
                </a:solidFill>
                <a:latin typeface="Segoe UI"/>
              </a:defRPr>
            </a:pPr>
            <a:r>
              <a:t>2. Phương Pháp Xác Định Giá Trị Dc</a:t>
            </a:r>
          </a:p>
          <a:p>
            <a:pPr>
              <a:spcAft>
                <a:spcPts val="1000"/>
              </a:spcAft>
              <a:defRPr sz="1600" b="1">
                <a:solidFill>
                  <a:srgbClr val="123524"/>
                </a:solidFill>
                <a:latin typeface="Segoe UI"/>
              </a:defRPr>
            </a:pPr>
            <a:r>
              <a:t>✔ Bước 1 — Kiểm kê thực tế: </a:t>
            </a:r>
            <a:r>
              <a:rPr b="0" sz="1600">
                <a:solidFill>
                  <a:srgbClr val="1A2421"/>
                </a:solidFill>
              </a:rPr>
              <a:t>Lập Biên bản kiểm kê thực địa diện tích gieo trồng chưa thu hoạch (đo đạc theo hecta).</a:t>
            </a:r>
          </a:p>
          <a:p>
            <a:pPr>
              <a:spcAft>
                <a:spcPts val="1000"/>
              </a:spcAft>
              <a:defRPr sz="1600" b="1">
                <a:solidFill>
                  <a:srgbClr val="123524"/>
                </a:solidFill>
                <a:latin typeface="Segoe UI"/>
              </a:defRPr>
            </a:pPr>
            <a:r>
              <a:t>✔ Bước 2 — Tập hợp chi phí giai đoạn đầu: </a:t>
            </a:r>
            <a:r>
              <a:rPr b="0" sz="1600">
                <a:solidFill>
                  <a:srgbClr val="1A2421"/>
                </a:solidFill>
              </a:rPr>
              <a:t>Xác định suất chi phí bình quân đã chi cho 1 ha làm đất và gieo cấy (suất đầu tư ban đầu).</a:t>
            </a:r>
          </a:p>
          <a:p>
            <a:pPr>
              <a:spcAft>
                <a:spcPts val="1000"/>
              </a:spcAft>
              <a:defRPr sz="1600" b="1">
                <a:solidFill>
                  <a:srgbClr val="123524"/>
                </a:solidFill>
                <a:latin typeface="Segoe UI"/>
              </a:defRPr>
            </a:pPr>
            <a:r>
              <a:t>✔ Bước 3 — Tính giá trị dở dang: </a:t>
            </a:r>
            <a:r>
              <a:rPr b="0" sz="1600">
                <a:solidFill>
                  <a:srgbClr val="1A2421"/>
                </a:solidFill>
              </a:rPr>
              <a:t>Công thức: Giá trị Dc = Diện tích chưa thu hoạch (ha) × Chi phí bình quân 1 ha.</a:t>
            </a:r>
          </a:p>
          <a:p>
            <a:pPr>
              <a:spcAft>
                <a:spcPts val="1000"/>
              </a:spcAft>
              <a:defRPr sz="1600" b="1">
                <a:solidFill>
                  <a:srgbClr val="123524"/>
                </a:solidFill>
                <a:latin typeface="Segoe UI"/>
              </a:defRPr>
            </a:pPr>
            <a:r>
              <a:t>✔ Lưu ý Thông tư 99: </a:t>
            </a:r>
            <a:r>
              <a:rPr b="0" sz="1600">
                <a:solidFill>
                  <a:srgbClr val="1A2421"/>
                </a:solidFill>
              </a:rPr>
              <a:t>Không được tính chi phí thu hoạch ước tính vào giá trị sản phẩm dở dang cuối kỳ.</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7772400" cy="256032"/>
          </a:xfrm>
          <a:prstGeom prst="rect">
            <a:avLst/>
          </a:prstGeom>
          <a:noFill/>
        </p:spPr>
        <p:txBody>
          <a:bodyPr wrap="square" lIns="0" tIns="0" rIns="0" bIns="0">
            <a:spAutoFit/>
          </a:bodyPr>
          <a:lstStyle/>
          <a:p>
            <a:pPr>
              <a:defRPr sz="1100" b="1">
                <a:solidFill>
                  <a:srgbClr val="D48F18"/>
                </a:solidFill>
                <a:latin typeface="Segoe UI"/>
              </a:defRPr>
            </a:pPr>
            <a:r>
              <a:t>PHẦN V: KỸ THUẬT TÍNH GIÁ THÀNH</a:t>
            </a:r>
          </a:p>
        </p:txBody>
      </p:sp>
      <p:sp>
        <p:nvSpPr>
          <p:cNvPr id="5" name="TextBox 4"/>
          <p:cNvSpPr txBox="1"/>
          <p:nvPr/>
        </p:nvSpPr>
        <p:spPr>
          <a:xfrm>
            <a:off x="9875520" y="91440"/>
            <a:ext cx="1584655" cy="256032"/>
          </a:xfrm>
          <a:prstGeom prst="rect">
            <a:avLst/>
          </a:prstGeom>
          <a:noFill/>
        </p:spPr>
        <p:txBody>
          <a:bodyPr wrap="none" lIns="0" tIns="0" rIns="0" bIns="0">
            <a:spAutoFit/>
          </a:bodyPr>
          <a:lstStyle/>
          <a:p>
            <a:pPr algn="r">
              <a:defRPr sz="1100" b="1">
                <a:solidFill>
                  <a:srgbClr val="FFFFFF"/>
                </a:solidFill>
                <a:latin typeface="Segoe UI"/>
              </a:defRPr>
            </a:pPr>
            <a:r>
              <a:t>Slide 11/15</a:t>
            </a:r>
          </a:p>
        </p:txBody>
      </p:sp>
      <p:sp>
        <p:nvSpPr>
          <p:cNvPr id="6" name="TextBox 5"/>
          <p:cNvSpPr txBox="1"/>
          <p:nvPr/>
        </p:nvSpPr>
        <p:spPr>
          <a:xfrm>
            <a:off x="731520" y="347472"/>
            <a:ext cx="10698480" cy="411480"/>
          </a:xfrm>
          <a:prstGeom prst="rect">
            <a:avLst/>
          </a:prstGeom>
          <a:noFill/>
        </p:spPr>
        <p:txBody>
          <a:bodyPr wrap="square" lIns="0" tIns="0" rIns="0" bIns="0">
            <a:spAutoFit/>
          </a:bodyPr>
          <a:lstStyle/>
          <a:p>
            <a:pPr>
              <a:defRPr sz="2000" b="1">
                <a:solidFill>
                  <a:srgbClr val="FFFFFF"/>
                </a:solidFill>
                <a:latin typeface="Segoe UI"/>
              </a:defRPr>
            </a:pPr>
            <a:r>
              <a:t>Phương Pháp Tính Giá Thành &amp; Trừ Giá Trị Phụ Phẩm</a:t>
            </a:r>
          </a:p>
        </p:txBody>
      </p:sp>
      <p:sp>
        <p:nvSpPr>
          <p:cNvPr id="7" name="TextBox 6"/>
          <p:cNvSpPr txBox="1"/>
          <p:nvPr/>
        </p:nvSpPr>
        <p:spPr>
          <a:xfrm>
            <a:off x="731520" y="777240"/>
            <a:ext cx="10698480" cy="228600"/>
          </a:xfrm>
          <a:prstGeom prst="rect">
            <a:avLst/>
          </a:prstGeom>
          <a:noFill/>
        </p:spPr>
        <p:txBody>
          <a:bodyPr wrap="square" lIns="0" tIns="0" rIns="0" bIns="0">
            <a:spAutoFit/>
          </a:bodyPr>
          <a:lstStyle/>
          <a:p>
            <a:pPr>
              <a:defRPr sz="1100">
                <a:solidFill>
                  <a:srgbClr val="CDE4D7"/>
                </a:solidFill>
                <a:latin typeface="Segoe UI"/>
              </a:defRPr>
            </a:pPr>
            <a:r>
              <a:t>Công thức tính giá thành nông sản chính và nguyên tắc định giá phụ phẩm nông nghiệp thu hồi</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1000">
                <a:solidFill>
                  <a:srgbClr val="55625C"/>
                </a:solidFill>
                <a:latin typeface="Segoe UI"/>
              </a:defRPr>
            </a:pPr>
            <a:r>
              <a:t>Kế toán Doanh nghiệp Nông nghiệp • Cây trồng ngắn ngày • Theo Thông tư 99/2025/TT-BTC ngày 27/10/2025 của Bộ Tài chính</a:t>
            </a:r>
          </a:p>
        </p:txBody>
      </p:sp>
      <p:sp>
        <p:nvSpPr>
          <p:cNvPr id="10" name="Rounded Rectangle 9"/>
          <p:cNvSpPr/>
          <p:nvPr/>
        </p:nvSpPr>
        <p:spPr>
          <a:xfrm>
            <a:off x="731520" y="1280160"/>
            <a:ext cx="10728655" cy="2103120"/>
          </a:xfrm>
          <a:prstGeom prst="roundRect">
            <a:avLst/>
          </a:prstGeom>
          <a:solidFill>
            <a:srgbClr val="FEF9E7"/>
          </a:solidFill>
          <a:ln w="12700">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353312"/>
            <a:ext cx="10362895" cy="1920240"/>
          </a:xfrm>
          <a:prstGeom prst="rect">
            <a:avLst/>
          </a:prstGeom>
          <a:noFill/>
        </p:spPr>
        <p:txBody>
          <a:bodyPr wrap="square">
            <a:spAutoFit/>
          </a:bodyPr>
          <a:lstStyle/>
          <a:p>
            <a:pPr>
              <a:spcAft>
                <a:spcPts val="600"/>
              </a:spcAft>
              <a:defRPr sz="1700" b="1">
                <a:solidFill>
                  <a:srgbClr val="D48F18"/>
                </a:solidFill>
                <a:latin typeface="Segoe UI"/>
              </a:defRPr>
            </a:pPr>
            <a:r>
              <a:t>CÔNG THỨC XÁC ĐỊNH GIÁ THÀNH NÔNG SẢN CHÍNH HOÀN THÀNH</a:t>
            </a:r>
          </a:p>
          <a:p>
            <a:pPr>
              <a:spcAft>
                <a:spcPts val="600"/>
              </a:spcAft>
              <a:defRPr sz="1550" b="1">
                <a:solidFill>
                  <a:srgbClr val="123524"/>
                </a:solidFill>
                <a:latin typeface="Consolas"/>
              </a:defRPr>
            </a:pPr>
            <a:r>
              <a:t>Tổng giá thành SP chính (Z) = Dở dang đầu kỳ (Dđ) + Tổng chi phí phát sinh trong kỳ - Dở dang cuối kỳ (Dc) - Giá trị phụ phẩm thu hồi</a:t>
            </a:r>
          </a:p>
          <a:p>
            <a:pPr>
              <a:defRPr sz="1550" b="1">
                <a:solidFill>
                  <a:srgbClr val="123524"/>
                </a:solidFill>
                <a:latin typeface="Consolas"/>
              </a:defRPr>
            </a:pPr>
            <a:r>
              <a:t>Giá thành đơn vị (z) = Tổng giá thành SP chính (Z) / Khối lượng nông sản chính hoàn thành (kg, tấn)</a:t>
            </a:r>
          </a:p>
        </p:txBody>
      </p:sp>
      <p:sp>
        <p:nvSpPr>
          <p:cNvPr id="12" name="Rounded Rectangle 11"/>
          <p:cNvSpPr/>
          <p:nvPr/>
        </p:nvSpPr>
        <p:spPr>
          <a:xfrm>
            <a:off x="731520" y="3566160"/>
            <a:ext cx="5212080" cy="2834640"/>
          </a:xfrm>
          <a:prstGeom prst="roundRect">
            <a:avLst/>
          </a:prstGeom>
          <a:solidFill>
            <a:srgbClr val="EEF6F0"/>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657600"/>
            <a:ext cx="4846320" cy="2651760"/>
          </a:xfrm>
          <a:prstGeom prst="rect">
            <a:avLst/>
          </a:prstGeom>
          <a:noFill/>
        </p:spPr>
        <p:txBody>
          <a:bodyPr wrap="square">
            <a:spAutoFit/>
          </a:bodyPr>
          <a:lstStyle/>
          <a:p>
            <a:pPr>
              <a:spcAft>
                <a:spcPts val="800"/>
              </a:spcAft>
              <a:defRPr sz="1700" b="1">
                <a:solidFill>
                  <a:srgbClr val="123524"/>
                </a:solidFill>
                <a:latin typeface="Segoe UI"/>
              </a:defRPr>
            </a:pPr>
            <a:r>
              <a:t>1. Phân Loại Sản Phẩm Thu Hoạch</a:t>
            </a:r>
          </a:p>
          <a:p>
            <a:pPr>
              <a:spcAft>
                <a:spcPts val="600"/>
              </a:spcAft>
              <a:defRPr sz="1600">
                <a:solidFill>
                  <a:srgbClr val="1A2421"/>
                </a:solidFill>
                <a:latin typeface="Segoe UI"/>
              </a:defRPr>
            </a:pPr>
            <a:r>
              <a:t>• Sản phẩm chính: Thóc (lúa nước), hạt ngô, củ khoai lang, hạt đậu tương... là mục đích sản xuất chủ yếu.</a:t>
            </a:r>
          </a:p>
          <a:p>
            <a:pPr>
              <a:defRPr sz="1600">
                <a:solidFill>
                  <a:srgbClr val="1A2421"/>
                </a:solidFill>
                <a:latin typeface="Segoe UI"/>
              </a:defRPr>
            </a:pPr>
            <a:r>
              <a:t>• Sản phẩm phụ (phụ phẩm): Rơm rạ (làm nấm, che phủ đất), thân cây ngô (làm thức ăn bò sữa), trấu, cám...</a:t>
            </a:r>
          </a:p>
        </p:txBody>
      </p:sp>
      <p:sp>
        <p:nvSpPr>
          <p:cNvPr id="14" name="Rounded Rectangle 13"/>
          <p:cNvSpPr/>
          <p:nvPr/>
        </p:nvSpPr>
        <p:spPr>
          <a:xfrm>
            <a:off x="6217920" y="3566160"/>
            <a:ext cx="5212080" cy="2834640"/>
          </a:xfrm>
          <a:prstGeom prst="roundRect">
            <a:avLst/>
          </a:prstGeom>
          <a:solidFill>
            <a:srgbClr val="F5F9F6"/>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657600"/>
            <a:ext cx="4846320" cy="2651760"/>
          </a:xfrm>
          <a:prstGeom prst="rect">
            <a:avLst/>
          </a:prstGeom>
          <a:noFill/>
        </p:spPr>
        <p:txBody>
          <a:bodyPr wrap="square">
            <a:spAutoFit/>
          </a:bodyPr>
          <a:lstStyle/>
          <a:p>
            <a:pPr>
              <a:spcAft>
                <a:spcPts val="800"/>
              </a:spcAft>
              <a:defRPr sz="1700" b="1">
                <a:solidFill>
                  <a:srgbClr val="123524"/>
                </a:solidFill>
                <a:latin typeface="Segoe UI"/>
              </a:defRPr>
            </a:pPr>
            <a:r>
              <a:t>2. Nguyên Tắc Định Giá Phụ Phẩm Thu Hồi</a:t>
            </a:r>
          </a:p>
          <a:p>
            <a:pPr>
              <a:spcAft>
                <a:spcPts val="600"/>
              </a:spcAft>
              <a:defRPr sz="1600">
                <a:solidFill>
                  <a:srgbClr val="1A2421"/>
                </a:solidFill>
                <a:latin typeface="Segoe UI"/>
              </a:defRPr>
            </a:pPr>
            <a:r>
              <a:t>• Phụ phẩm bán ra ngoài: Được tính theo giá bán thực tế trừ chi phí thu gom, vận chuyển.</a:t>
            </a:r>
          </a:p>
          <a:p>
            <a:pPr>
              <a:defRPr sz="1600">
                <a:solidFill>
                  <a:srgbClr val="1A2421"/>
                </a:solidFill>
                <a:latin typeface="Segoe UI"/>
              </a:defRPr>
            </a:pPr>
            <a:r>
              <a:t>• Phụ phẩm dùng nội bộ (cho gia súc ăn): Tính theo giá quy ước nội bộ hoặc chi phí thức ăn thay thế để ghi giảm chi phí trên TK 154.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7772400" cy="256032"/>
          </a:xfrm>
          <a:prstGeom prst="rect">
            <a:avLst/>
          </a:prstGeom>
          <a:noFill/>
        </p:spPr>
        <p:txBody>
          <a:bodyPr wrap="square" lIns="0" tIns="0" rIns="0" bIns="0">
            <a:spAutoFit/>
          </a:bodyPr>
          <a:lstStyle/>
          <a:p>
            <a:pPr>
              <a:defRPr sz="1100" b="1">
                <a:solidFill>
                  <a:srgbClr val="D48F18"/>
                </a:solidFill>
                <a:latin typeface="Segoe UI"/>
              </a:defRPr>
            </a:pPr>
            <a:r>
              <a:t>PHẦN IV: PHẦN HÀNH HẠCH TOÁN</a:t>
            </a:r>
          </a:p>
        </p:txBody>
      </p:sp>
      <p:sp>
        <p:nvSpPr>
          <p:cNvPr id="5" name="TextBox 4"/>
          <p:cNvSpPr txBox="1"/>
          <p:nvPr/>
        </p:nvSpPr>
        <p:spPr>
          <a:xfrm>
            <a:off x="9875520" y="91440"/>
            <a:ext cx="1584655" cy="256032"/>
          </a:xfrm>
          <a:prstGeom prst="rect">
            <a:avLst/>
          </a:prstGeom>
          <a:noFill/>
        </p:spPr>
        <p:txBody>
          <a:bodyPr wrap="none" lIns="0" tIns="0" rIns="0" bIns="0">
            <a:spAutoFit/>
          </a:bodyPr>
          <a:lstStyle/>
          <a:p>
            <a:pPr algn="r">
              <a:defRPr sz="1100" b="1">
                <a:solidFill>
                  <a:srgbClr val="FFFFFF"/>
                </a:solidFill>
                <a:latin typeface="Segoe UI"/>
              </a:defRPr>
            </a:pPr>
            <a:r>
              <a:t>Slide 12/15</a:t>
            </a:r>
          </a:p>
        </p:txBody>
      </p:sp>
      <p:sp>
        <p:nvSpPr>
          <p:cNvPr id="6" name="TextBox 5"/>
          <p:cNvSpPr txBox="1"/>
          <p:nvPr/>
        </p:nvSpPr>
        <p:spPr>
          <a:xfrm>
            <a:off x="731520" y="347472"/>
            <a:ext cx="10698480" cy="411480"/>
          </a:xfrm>
          <a:prstGeom prst="rect">
            <a:avLst/>
          </a:prstGeom>
          <a:noFill/>
        </p:spPr>
        <p:txBody>
          <a:bodyPr wrap="square" lIns="0" tIns="0" rIns="0" bIns="0">
            <a:spAutoFit/>
          </a:bodyPr>
          <a:lstStyle/>
          <a:p>
            <a:pPr>
              <a:defRPr sz="2000" b="1">
                <a:solidFill>
                  <a:srgbClr val="FFFFFF"/>
                </a:solidFill>
                <a:latin typeface="Segoe UI"/>
              </a:defRPr>
            </a:pPr>
            <a:r>
              <a:t>Giai Đoạn 3: Hạch Toán Nông Sản Thu Hoạch &amp; Phân Bổ Đầu Ra</a:t>
            </a:r>
          </a:p>
        </p:txBody>
      </p:sp>
      <p:sp>
        <p:nvSpPr>
          <p:cNvPr id="7" name="TextBox 6"/>
          <p:cNvSpPr txBox="1"/>
          <p:nvPr/>
        </p:nvSpPr>
        <p:spPr>
          <a:xfrm>
            <a:off x="731520" y="777240"/>
            <a:ext cx="10698480" cy="228600"/>
          </a:xfrm>
          <a:prstGeom prst="rect">
            <a:avLst/>
          </a:prstGeom>
          <a:noFill/>
        </p:spPr>
        <p:txBody>
          <a:bodyPr wrap="square" lIns="0" tIns="0" rIns="0" bIns="0">
            <a:spAutoFit/>
          </a:bodyPr>
          <a:lstStyle/>
          <a:p>
            <a:pPr>
              <a:defRPr sz="1100">
                <a:solidFill>
                  <a:srgbClr val="CDE4D7"/>
                </a:solidFill>
                <a:latin typeface="Segoe UI"/>
              </a:defRPr>
            </a:pPr>
            <a:r>
              <a:t>Kỹ thuật định khoản nhập kho nông sản chính, bán trực tiếp tại ruộng và thu hồi phụ phẩm</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1000">
                <a:solidFill>
                  <a:srgbClr val="55625C"/>
                </a:solidFill>
                <a:latin typeface="Segoe UI"/>
              </a:defRPr>
            </a:pPr>
            <a:r>
              <a:t>Kế toán Doanh nghiệp Nông nghiệp • Cây trồng ngắn ngày • Theo Thông tư 99/2025/TT-BTC ngày 27/10/2025 của Bộ Tài chính</a:t>
            </a:r>
          </a:p>
        </p:txBody>
      </p:sp>
      <p:sp>
        <p:nvSpPr>
          <p:cNvPr id="10" name="Rounded Rectangle 9"/>
          <p:cNvSpPr/>
          <p:nvPr/>
        </p:nvSpPr>
        <p:spPr>
          <a:xfrm>
            <a:off x="731520" y="1280160"/>
            <a:ext cx="5212080" cy="4937760"/>
          </a:xfrm>
          <a:prstGeom prst="roundRect">
            <a:avLst/>
          </a:prstGeom>
          <a:solidFill>
            <a:srgbClr val="EEF6F0"/>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417320"/>
            <a:ext cx="4846320" cy="4572000"/>
          </a:xfrm>
          <a:prstGeom prst="rect">
            <a:avLst/>
          </a:prstGeom>
          <a:noFill/>
        </p:spPr>
        <p:txBody>
          <a:bodyPr wrap="square">
            <a:spAutoFit/>
          </a:bodyPr>
          <a:lstStyle/>
          <a:p>
            <a:pPr>
              <a:spcAft>
                <a:spcPts val="1200"/>
              </a:spcAft>
              <a:defRPr sz="1800" b="1">
                <a:solidFill>
                  <a:srgbClr val="123524"/>
                </a:solidFill>
                <a:latin typeface="Segoe UI"/>
              </a:defRPr>
            </a:pPr>
            <a:r>
              <a:t>1. Nông Sản Chính Nhập Kho Hoặc Bán Ngay</a:t>
            </a:r>
          </a:p>
          <a:p>
            <a:pPr>
              <a:defRPr sz="1600" b="1">
                <a:solidFill>
                  <a:srgbClr val="123524"/>
                </a:solidFill>
                <a:latin typeface="Segoe UI"/>
              </a:defRPr>
            </a:pPr>
            <a:r>
              <a:t>• Nông sản chính thu hoạch nhập kho bảo quản:</a:t>
            </a:r>
          </a:p>
          <a:p>
            <a:pPr>
              <a:spcAft>
                <a:spcPts val="800"/>
              </a:spcAft>
              <a:defRPr sz="1500">
                <a:solidFill>
                  <a:srgbClr val="1A2421"/>
                </a:solidFill>
                <a:latin typeface="Consolas"/>
              </a:defRPr>
            </a:pPr>
            <a:r>
              <a:t>Nợ TK 1551 (Nông sản hoàn thành)</a:t>
            </a:r>
            <a:br/>
            <a:r>
              <a:t>    Có TK 154 (Chi tiết Vụ Lúa, Vụ Ngô)</a:t>
            </a:r>
          </a:p>
          <a:p>
            <a:pPr>
              <a:defRPr sz="1600" b="1">
                <a:solidFill>
                  <a:srgbClr val="123524"/>
                </a:solidFill>
                <a:latin typeface="Segoe UI"/>
              </a:defRPr>
            </a:pPr>
            <a:r>
              <a:t>• Nông sản bán thẳng tại đồng ruộng không qua kho:</a:t>
            </a:r>
          </a:p>
          <a:p>
            <a:pPr>
              <a:spcAft>
                <a:spcPts val="800"/>
              </a:spcAft>
              <a:defRPr sz="1500">
                <a:solidFill>
                  <a:srgbClr val="1A2421"/>
                </a:solidFill>
                <a:latin typeface="Consolas"/>
              </a:defRPr>
            </a:pPr>
            <a:r>
              <a:t>• Phản ánh giá vốn:</a:t>
            </a:r>
            <a:br/>
            <a:r>
              <a:t>  Nợ TK 632 (Giá vốn hàng bán)</a:t>
            </a:r>
            <a:br/>
            <a:r>
              <a:t>      Có TK 154 (Cây ngắn ngày)</a:t>
            </a:r>
            <a:br/>
            <a:r>
              <a:t>• Phản ánh doanh thu bán hàng:</a:t>
            </a:r>
            <a:br/>
            <a:r>
              <a:t>  Nợ TK 111, 112, 131</a:t>
            </a:r>
            <a:br/>
            <a:r>
              <a:t>      Có TK 5111 (Doanh thu bán nông sản)</a:t>
            </a:r>
            <a:br/>
            <a:r>
              <a:t>      Có TK 3331 (Thuế GTGT nếu có)</a:t>
            </a:r>
          </a:p>
        </p:txBody>
      </p:sp>
      <p:sp>
        <p:nvSpPr>
          <p:cNvPr id="12" name="Rounded Rectangle 11"/>
          <p:cNvSpPr/>
          <p:nvPr/>
        </p:nvSpPr>
        <p:spPr>
          <a:xfrm>
            <a:off x="6217920" y="1280160"/>
            <a:ext cx="5212080" cy="4937760"/>
          </a:xfrm>
          <a:prstGeom prst="roundRect">
            <a:avLst/>
          </a:prstGeom>
          <a:solidFill>
            <a:srgbClr val="F5F9F6"/>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17320"/>
            <a:ext cx="4846320" cy="4572000"/>
          </a:xfrm>
          <a:prstGeom prst="rect">
            <a:avLst/>
          </a:prstGeom>
          <a:noFill/>
        </p:spPr>
        <p:txBody>
          <a:bodyPr wrap="square">
            <a:spAutoFit/>
          </a:bodyPr>
          <a:lstStyle/>
          <a:p>
            <a:pPr>
              <a:spcAft>
                <a:spcPts val="1200"/>
              </a:spcAft>
              <a:defRPr sz="1800" b="1">
                <a:solidFill>
                  <a:srgbClr val="123524"/>
                </a:solidFill>
                <a:latin typeface="Segoe UI"/>
              </a:defRPr>
            </a:pPr>
            <a:r>
              <a:t>2. Thu Hồi Phụ Phẩm &amp; Sử Dụng Nội Bộ</a:t>
            </a:r>
          </a:p>
          <a:p>
            <a:pPr>
              <a:defRPr sz="1600" b="1">
                <a:solidFill>
                  <a:srgbClr val="123524"/>
                </a:solidFill>
                <a:latin typeface="Segoe UI"/>
              </a:defRPr>
            </a:pPr>
            <a:r>
              <a:t>• Thu hồi rơm rạ, thân cây bắp nhập kho phụ phẩm:</a:t>
            </a:r>
          </a:p>
          <a:p>
            <a:pPr>
              <a:spcAft>
                <a:spcPts val="800"/>
              </a:spcAft>
              <a:defRPr sz="1500">
                <a:solidFill>
                  <a:srgbClr val="1A2421"/>
                </a:solidFill>
                <a:latin typeface="Consolas"/>
              </a:defRPr>
            </a:pPr>
            <a:r>
              <a:t>Nợ TK 1524 (Phụ phẩm nông nghiệp)</a:t>
            </a:r>
            <a:br/>
            <a:r>
              <a:t>    Có TK 154 (Ghi giảm chi phí cây ngắn ngày)</a:t>
            </a:r>
          </a:p>
          <a:p>
            <a:pPr>
              <a:defRPr sz="1600" b="1">
                <a:solidFill>
                  <a:srgbClr val="123524"/>
                </a:solidFill>
                <a:latin typeface="Segoe UI"/>
              </a:defRPr>
            </a:pPr>
            <a:r>
              <a:t>• Xuất phụ phẩm cho Đội Chăn nuôi ăn nội bộ:</a:t>
            </a:r>
          </a:p>
          <a:p>
            <a:pPr>
              <a:spcAft>
                <a:spcPts val="800"/>
              </a:spcAft>
              <a:defRPr sz="1500">
                <a:solidFill>
                  <a:srgbClr val="1A2421"/>
                </a:solidFill>
                <a:latin typeface="Consolas"/>
              </a:defRPr>
            </a:pPr>
            <a:r>
              <a:t>Nợ TK 621 (Chi phí NVL chăn nuôi bò sữa)</a:t>
            </a:r>
            <a:br/>
            <a:r>
              <a:t>    Có TK 154 (Chuyển thẳng từ trồng trọt)</a:t>
            </a:r>
            <a:br/>
            <a:r>
              <a:t>    (Hoặc Có TK 1524 nếu đã qua nhập kho)</a:t>
            </a:r>
          </a:p>
          <a:p>
            <a:pPr>
              <a:defRPr sz="1600" b="1">
                <a:solidFill>
                  <a:srgbClr val="123524"/>
                </a:solidFill>
                <a:latin typeface="Segoe UI"/>
              </a:defRPr>
            </a:pPr>
            <a:r>
              <a:t>• Bán phụ phẩm thu tiền ngay tại đồng ruộng:</a:t>
            </a:r>
          </a:p>
          <a:p>
            <a:pPr>
              <a:spcAft>
                <a:spcPts val="800"/>
              </a:spcAft>
              <a:defRPr sz="1500">
                <a:solidFill>
                  <a:srgbClr val="1A2421"/>
                </a:solidFill>
                <a:latin typeface="Consolas"/>
              </a:defRPr>
            </a:pPr>
            <a:r>
              <a:t>Nợ TK 111, 112 / Có TK 154 (Ghi giảm chi phí)</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7772400" cy="256032"/>
          </a:xfrm>
          <a:prstGeom prst="rect">
            <a:avLst/>
          </a:prstGeom>
          <a:noFill/>
        </p:spPr>
        <p:txBody>
          <a:bodyPr wrap="square" lIns="0" tIns="0" rIns="0" bIns="0">
            <a:spAutoFit/>
          </a:bodyPr>
          <a:lstStyle/>
          <a:p>
            <a:pPr>
              <a:defRPr sz="1100" b="1">
                <a:solidFill>
                  <a:srgbClr val="D48F18"/>
                </a:solidFill>
                <a:latin typeface="Segoe UI"/>
              </a:defRPr>
            </a:pPr>
            <a:r>
              <a:t>PHẦN VI: XỬ LÝ RỦI RO MÙA VỤ</a:t>
            </a:r>
          </a:p>
        </p:txBody>
      </p:sp>
      <p:sp>
        <p:nvSpPr>
          <p:cNvPr id="5" name="TextBox 4"/>
          <p:cNvSpPr txBox="1"/>
          <p:nvPr/>
        </p:nvSpPr>
        <p:spPr>
          <a:xfrm>
            <a:off x="9875520" y="91440"/>
            <a:ext cx="1584655" cy="256032"/>
          </a:xfrm>
          <a:prstGeom prst="rect">
            <a:avLst/>
          </a:prstGeom>
          <a:noFill/>
        </p:spPr>
        <p:txBody>
          <a:bodyPr wrap="none" lIns="0" tIns="0" rIns="0" bIns="0">
            <a:spAutoFit/>
          </a:bodyPr>
          <a:lstStyle/>
          <a:p>
            <a:pPr algn="r">
              <a:defRPr sz="1100" b="1">
                <a:solidFill>
                  <a:srgbClr val="FFFFFF"/>
                </a:solidFill>
                <a:latin typeface="Segoe UI"/>
              </a:defRPr>
            </a:pPr>
            <a:r>
              <a:t>Slide 13/15</a:t>
            </a:r>
          </a:p>
        </p:txBody>
      </p:sp>
      <p:sp>
        <p:nvSpPr>
          <p:cNvPr id="6" name="TextBox 5"/>
          <p:cNvSpPr txBox="1"/>
          <p:nvPr/>
        </p:nvSpPr>
        <p:spPr>
          <a:xfrm>
            <a:off x="731520" y="347472"/>
            <a:ext cx="10698480" cy="411480"/>
          </a:xfrm>
          <a:prstGeom prst="rect">
            <a:avLst/>
          </a:prstGeom>
          <a:noFill/>
        </p:spPr>
        <p:txBody>
          <a:bodyPr wrap="square" lIns="0" tIns="0" rIns="0" bIns="0">
            <a:spAutoFit/>
          </a:bodyPr>
          <a:lstStyle/>
          <a:p>
            <a:pPr>
              <a:defRPr sz="2000" b="1">
                <a:solidFill>
                  <a:srgbClr val="FFFFFF"/>
                </a:solidFill>
                <a:latin typeface="Segoe UI"/>
              </a:defRPr>
            </a:pPr>
            <a:r>
              <a:t>Kế Toán Xử Lý Tổn Thất Thiên Tai &amp; Dịch Bệnh</a:t>
            </a:r>
          </a:p>
        </p:txBody>
      </p:sp>
      <p:sp>
        <p:nvSpPr>
          <p:cNvPr id="7" name="TextBox 6"/>
          <p:cNvSpPr txBox="1"/>
          <p:nvPr/>
        </p:nvSpPr>
        <p:spPr>
          <a:xfrm>
            <a:off x="731520" y="777240"/>
            <a:ext cx="10698480" cy="228600"/>
          </a:xfrm>
          <a:prstGeom prst="rect">
            <a:avLst/>
          </a:prstGeom>
          <a:noFill/>
        </p:spPr>
        <p:txBody>
          <a:bodyPr wrap="square" lIns="0" tIns="0" rIns="0" bIns="0">
            <a:spAutoFit/>
          </a:bodyPr>
          <a:lstStyle/>
          <a:p>
            <a:pPr>
              <a:defRPr sz="1100">
                <a:solidFill>
                  <a:srgbClr val="CDE4D7"/>
                </a:solidFill>
                <a:latin typeface="Segoe UI"/>
              </a:defRPr>
            </a:pPr>
            <a:r>
              <a:t>Nguyên tắc loại trừ chi phí bất thường và định khoản các khoản bồi thường, hỗ trợ của Nhà nước</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1000">
                <a:solidFill>
                  <a:srgbClr val="55625C"/>
                </a:solidFill>
                <a:latin typeface="Segoe UI"/>
              </a:defRPr>
            </a:pPr>
            <a:r>
              <a:t>Kế toán Doanh nghiệp Nông nghiệp • Cây trồng ngắn ngày • Theo Thông tư 99/2025/TT-BTC ngày 27/10/2025 của Bộ Tài chính</a:t>
            </a:r>
          </a:p>
        </p:txBody>
      </p:sp>
      <p:sp>
        <p:nvSpPr>
          <p:cNvPr id="10" name="Rounded Rectangle 9"/>
          <p:cNvSpPr/>
          <p:nvPr/>
        </p:nvSpPr>
        <p:spPr>
          <a:xfrm>
            <a:off x="731520" y="1280160"/>
            <a:ext cx="5212080" cy="4937760"/>
          </a:xfrm>
          <a:prstGeom prst="roundRect">
            <a:avLst/>
          </a:prstGeom>
          <a:solidFill>
            <a:srgbClr val="EEF6F0"/>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417320"/>
            <a:ext cx="4846320" cy="4572000"/>
          </a:xfrm>
          <a:prstGeom prst="rect">
            <a:avLst/>
          </a:prstGeom>
          <a:noFill/>
        </p:spPr>
        <p:txBody>
          <a:bodyPr wrap="square">
            <a:spAutoFit/>
          </a:bodyPr>
          <a:lstStyle/>
          <a:p>
            <a:pPr>
              <a:spcAft>
                <a:spcPts val="1400"/>
              </a:spcAft>
              <a:defRPr sz="1800" b="1">
                <a:solidFill>
                  <a:srgbClr val="123524"/>
                </a:solidFill>
                <a:latin typeface="Segoe UI"/>
              </a:defRPr>
            </a:pPr>
            <a:r>
              <a:t>1. Nguyên Tắc Xử Lý Tổn Thất Thiên Tai</a:t>
            </a:r>
          </a:p>
          <a:p>
            <a:pPr>
              <a:spcAft>
                <a:spcPts val="1000"/>
              </a:spcAft>
              <a:defRPr sz="1600" b="1">
                <a:solidFill>
                  <a:srgbClr val="1A2421"/>
                </a:solidFill>
                <a:latin typeface="Segoe UI"/>
              </a:defRPr>
            </a:pPr>
            <a:r>
              <a:t>• Tách biệt chi phí bất thường: </a:t>
            </a:r>
            <a:r>
              <a:rPr b="0" sz="1600"/>
              <a:t>Khi diện tích lúa/ngô bị ngập lụt, hạn hán, dịch bệnh mất trắng: KHÔNG ĐƯỢC tính phần chi phí này vào giá thành diện tích còn lại.</a:t>
            </a:r>
          </a:p>
          <a:p>
            <a:pPr>
              <a:spcAft>
                <a:spcPts val="1000"/>
              </a:spcAft>
              <a:defRPr sz="1600" b="1">
                <a:solidFill>
                  <a:srgbClr val="1A2421"/>
                </a:solidFill>
                <a:latin typeface="Segoe UI"/>
              </a:defRPr>
            </a:pPr>
            <a:r>
              <a:t>• Lập Hội đồng kiểm kê: </a:t>
            </a:r>
            <a:r>
              <a:rPr b="0" sz="1600"/>
              <a:t>Phải lập Hội đồng đánh giá mức độ thiệt hại thực tế, xác định rõ nguyên nhân khách quan hay chủ quan.</a:t>
            </a:r>
          </a:p>
          <a:p>
            <a:pPr>
              <a:spcAft>
                <a:spcPts val="1000"/>
              </a:spcAft>
              <a:defRPr sz="1600" b="1">
                <a:solidFill>
                  <a:srgbClr val="1A2421"/>
                </a:solidFill>
                <a:latin typeface="Segoe UI"/>
              </a:defRPr>
            </a:pPr>
            <a:r>
              <a:t>• Hồ sơ yêu cầu bồi thường: </a:t>
            </a:r>
            <a:r>
              <a:rPr b="0" sz="1600"/>
              <a:t>Lập biên bản hiện trường gửi công ty bảo hiểm nông nghiệp hoặc đề nghị Nhà nước hỗ trợ thiên tai.</a:t>
            </a:r>
          </a:p>
          <a:p>
            <a:pPr>
              <a:spcAft>
                <a:spcPts val="1000"/>
              </a:spcAft>
              <a:defRPr sz="1600" b="1">
                <a:solidFill>
                  <a:srgbClr val="1A2421"/>
                </a:solidFill>
                <a:latin typeface="Segoe UI"/>
              </a:defRPr>
            </a:pPr>
            <a:r>
              <a:t>• Phản ánh trung thực giá thành: </a:t>
            </a:r>
            <a:r>
              <a:rPr b="0" sz="1600"/>
              <a:t>Đảm bảo nông sản thu hoạch của diện tích bình thường không bị đội giá thành vô lý.</a:t>
            </a:r>
          </a:p>
        </p:txBody>
      </p:sp>
      <p:sp>
        <p:nvSpPr>
          <p:cNvPr id="12" name="Rounded Rectangle 11"/>
          <p:cNvSpPr/>
          <p:nvPr/>
        </p:nvSpPr>
        <p:spPr>
          <a:xfrm>
            <a:off x="6217920" y="1280160"/>
            <a:ext cx="5212080" cy="4937760"/>
          </a:xfrm>
          <a:prstGeom prst="roundRect">
            <a:avLst/>
          </a:prstGeom>
          <a:solidFill>
            <a:srgbClr val="F5F9F6"/>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17320"/>
            <a:ext cx="4846320" cy="4572000"/>
          </a:xfrm>
          <a:prstGeom prst="rect">
            <a:avLst/>
          </a:prstGeom>
          <a:noFill/>
        </p:spPr>
        <p:txBody>
          <a:bodyPr wrap="square">
            <a:spAutoFit/>
          </a:bodyPr>
          <a:lstStyle/>
          <a:p>
            <a:pPr>
              <a:spcAft>
                <a:spcPts val="1200"/>
              </a:spcAft>
              <a:defRPr sz="1800" b="1">
                <a:solidFill>
                  <a:srgbClr val="123524"/>
                </a:solidFill>
                <a:latin typeface="Segoe UI"/>
              </a:defRPr>
            </a:pPr>
            <a:r>
              <a:t>2. Hệ Thống Bút Toán Hạch Toán</a:t>
            </a:r>
          </a:p>
          <a:p>
            <a:pPr>
              <a:defRPr sz="1600" b="1">
                <a:solidFill>
                  <a:srgbClr val="123524"/>
                </a:solidFill>
                <a:latin typeface="Segoe UI"/>
              </a:defRPr>
            </a:pPr>
            <a:r>
              <a:t>✔ Thu bồi thường từ bảo hiểm nông nghiệp / cá nhân:</a:t>
            </a:r>
          </a:p>
          <a:p>
            <a:pPr>
              <a:spcAft>
                <a:spcPts val="800"/>
              </a:spcAft>
              <a:defRPr sz="1500">
                <a:solidFill>
                  <a:srgbClr val="1A2421"/>
                </a:solidFill>
                <a:latin typeface="Consolas"/>
              </a:defRPr>
            </a:pPr>
            <a:r>
              <a:t>Nợ TK 112, 1388 (Phải thu bồi thường)</a:t>
            </a:r>
            <a:br/>
            <a:r>
              <a:t>    Có TK 154 (Giảm chi phí thiệt hại đã chi)</a:t>
            </a:r>
          </a:p>
          <a:p>
            <a:pPr>
              <a:defRPr sz="1600" b="1">
                <a:solidFill>
                  <a:srgbClr val="123524"/>
                </a:solidFill>
                <a:latin typeface="Segoe UI"/>
              </a:defRPr>
            </a:pPr>
            <a:r>
              <a:t>✔ Nhận kinh phí hỗ trợ thiên tai từ Ngân sách Nhà nước:</a:t>
            </a:r>
          </a:p>
          <a:p>
            <a:pPr>
              <a:spcAft>
                <a:spcPts val="800"/>
              </a:spcAft>
              <a:defRPr sz="1500">
                <a:solidFill>
                  <a:srgbClr val="1A2421"/>
                </a:solidFill>
                <a:latin typeface="Consolas"/>
              </a:defRPr>
            </a:pPr>
            <a:r>
              <a:t>Nợ TK 112 (Tiền gửi ngân hàng)</a:t>
            </a:r>
            <a:br/>
            <a:r>
              <a:t>    Có TK 711 (Thu nhập khác)</a:t>
            </a:r>
          </a:p>
          <a:p>
            <a:pPr>
              <a:defRPr sz="1600" b="1">
                <a:solidFill>
                  <a:srgbClr val="123524"/>
                </a:solidFill>
                <a:latin typeface="Segoe UI"/>
              </a:defRPr>
            </a:pPr>
            <a:r>
              <a:t>✔ Phần giá trị thiệt hại thuần túy không được bồi thường:</a:t>
            </a:r>
          </a:p>
          <a:p>
            <a:pPr>
              <a:spcAft>
                <a:spcPts val="800"/>
              </a:spcAft>
              <a:defRPr sz="1500">
                <a:solidFill>
                  <a:srgbClr val="1A2421"/>
                </a:solidFill>
                <a:latin typeface="Consolas"/>
              </a:defRPr>
            </a:pPr>
            <a:r>
              <a:t>Nợ TK 811 (Chi phí khác — tổn thất thiên tai)</a:t>
            </a:r>
            <a:br/>
            <a:r>
              <a:t>    Có TK 154 (Xóa giảm chi phí dở dang bị mất trắng)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7772400" cy="256032"/>
          </a:xfrm>
          <a:prstGeom prst="rect">
            <a:avLst/>
          </a:prstGeom>
          <a:noFill/>
        </p:spPr>
        <p:txBody>
          <a:bodyPr wrap="square" lIns="0" tIns="0" rIns="0" bIns="0">
            <a:spAutoFit/>
          </a:bodyPr>
          <a:lstStyle/>
          <a:p>
            <a:pPr>
              <a:defRPr sz="1100" b="1">
                <a:solidFill>
                  <a:srgbClr val="D48F18"/>
                </a:solidFill>
                <a:latin typeface="Segoe UI"/>
              </a:defRPr>
            </a:pPr>
            <a:r>
              <a:t>PHẦN VII: SƠ ĐỒ TỔNG HỢP</a:t>
            </a:r>
          </a:p>
        </p:txBody>
      </p:sp>
      <p:sp>
        <p:nvSpPr>
          <p:cNvPr id="5" name="TextBox 4"/>
          <p:cNvSpPr txBox="1"/>
          <p:nvPr/>
        </p:nvSpPr>
        <p:spPr>
          <a:xfrm>
            <a:off x="9875520" y="91440"/>
            <a:ext cx="1584655" cy="256032"/>
          </a:xfrm>
          <a:prstGeom prst="rect">
            <a:avLst/>
          </a:prstGeom>
          <a:noFill/>
        </p:spPr>
        <p:txBody>
          <a:bodyPr wrap="none" lIns="0" tIns="0" rIns="0" bIns="0">
            <a:spAutoFit/>
          </a:bodyPr>
          <a:lstStyle/>
          <a:p>
            <a:pPr algn="r">
              <a:defRPr sz="1100" b="1">
                <a:solidFill>
                  <a:srgbClr val="FFFFFF"/>
                </a:solidFill>
                <a:latin typeface="Segoe UI"/>
              </a:defRPr>
            </a:pPr>
            <a:r>
              <a:t>Slide 14/15</a:t>
            </a:r>
          </a:p>
        </p:txBody>
      </p:sp>
      <p:sp>
        <p:nvSpPr>
          <p:cNvPr id="6" name="TextBox 5"/>
          <p:cNvSpPr txBox="1"/>
          <p:nvPr/>
        </p:nvSpPr>
        <p:spPr>
          <a:xfrm>
            <a:off x="731520" y="347472"/>
            <a:ext cx="10698480" cy="411480"/>
          </a:xfrm>
          <a:prstGeom prst="rect">
            <a:avLst/>
          </a:prstGeom>
          <a:noFill/>
        </p:spPr>
        <p:txBody>
          <a:bodyPr wrap="square" lIns="0" tIns="0" rIns="0" bIns="0">
            <a:spAutoFit/>
          </a:bodyPr>
          <a:lstStyle/>
          <a:p>
            <a:pPr>
              <a:defRPr sz="2000" b="1">
                <a:solidFill>
                  <a:srgbClr val="FFFFFF"/>
                </a:solidFill>
                <a:latin typeface="Segoe UI"/>
              </a:defRPr>
            </a:pPr>
            <a:r>
              <a:t>Sơ Đồ Đối Ứng Tài Khoản Tổng Hợp Quy Trình Kế Toán</a:t>
            </a:r>
          </a:p>
        </p:txBody>
      </p:sp>
      <p:sp>
        <p:nvSpPr>
          <p:cNvPr id="7" name="TextBox 6"/>
          <p:cNvSpPr txBox="1"/>
          <p:nvPr/>
        </p:nvSpPr>
        <p:spPr>
          <a:xfrm>
            <a:off x="731520" y="777240"/>
            <a:ext cx="10698480" cy="228600"/>
          </a:xfrm>
          <a:prstGeom prst="rect">
            <a:avLst/>
          </a:prstGeom>
          <a:noFill/>
        </p:spPr>
        <p:txBody>
          <a:bodyPr wrap="square" lIns="0" tIns="0" rIns="0" bIns="0">
            <a:spAutoFit/>
          </a:bodyPr>
          <a:lstStyle/>
          <a:p>
            <a:pPr>
              <a:defRPr sz="1100">
                <a:solidFill>
                  <a:srgbClr val="CDE4D7"/>
                </a:solidFill>
                <a:latin typeface="Segoe UI"/>
              </a:defRPr>
            </a:pPr>
            <a:r>
              <a:t>Mô hình hóa toàn bộ chu trình luân chuyển chi phí từ đầu vào đến tính giá thành nông sản cây ngắn ngày</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1000">
                <a:solidFill>
                  <a:srgbClr val="55625C"/>
                </a:solidFill>
                <a:latin typeface="Segoe UI"/>
              </a:defRPr>
            </a:pPr>
            <a:r>
              <a:t>Kế toán Doanh nghiệp Nông nghiệp • Cây trồng ngắn ngày • Theo Thông tư 99/2025/TT-BTC ngày 27/10/2025 của Bộ Tài chính</a:t>
            </a:r>
          </a:p>
        </p:txBody>
      </p:sp>
      <p:sp>
        <p:nvSpPr>
          <p:cNvPr id="10" name="Rounded Rectangle 9"/>
          <p:cNvSpPr/>
          <p:nvPr/>
        </p:nvSpPr>
        <p:spPr>
          <a:xfrm>
            <a:off x="4297680" y="1280160"/>
            <a:ext cx="3566160" cy="4937760"/>
          </a:xfrm>
          <a:prstGeom prst="roundRect">
            <a:avLst/>
          </a:prstGeom>
          <a:solidFill>
            <a:srgbClr val="FEF9E7"/>
          </a:solidFill>
          <a:ln w="12700">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1417320"/>
            <a:ext cx="3291840" cy="4663440"/>
          </a:xfrm>
          <a:prstGeom prst="rect">
            <a:avLst/>
          </a:prstGeom>
          <a:noFill/>
        </p:spPr>
        <p:txBody>
          <a:bodyPr wrap="square">
            <a:spAutoFit/>
          </a:bodyPr>
          <a:lstStyle/>
          <a:p>
            <a:pPr algn="ctr">
              <a:spcAft>
                <a:spcPts val="800"/>
              </a:spcAft>
              <a:defRPr sz="1600" b="1">
                <a:solidFill>
                  <a:srgbClr val="123524"/>
                </a:solidFill>
                <a:latin typeface="Segoe UI"/>
              </a:defRPr>
            </a:pPr>
            <a:r>
              <a:t>TÀI KHOẢN 154</a:t>
            </a:r>
            <a:br/>
            <a:r>
              <a:t>CÂY TRỒNG NGẮN NGÀY</a:t>
            </a:r>
          </a:p>
          <a:p>
            <a:pPr>
              <a:defRPr sz="1400">
                <a:solidFill>
                  <a:srgbClr val="1A2421"/>
                </a:solidFill>
                <a:latin typeface="Consolas"/>
              </a:defRPr>
            </a:pPr>
            <a:r>
              <a:t>-------------------------------------</a:t>
            </a:r>
            <a:br/>
            <a:r>
              <a:t>BÊN NỢ (Tập hợp CP) | BÊN CÓ (Giá thành)</a:t>
            </a:r>
            <a:br/>
            <a:r>
              <a:t>-------------------------------------</a:t>
            </a:r>
            <a:br/>
            <a:r>
              <a:t>• Dư ĐK: Dở dang đầu| • Nhập kho thóc, ngô:</a:t>
            </a:r>
            <a:br/>
            <a:r>
              <a:t>  vụ (Dđ)           |   Nợ TK 1551</a:t>
            </a:r>
            <a:br/>
            <a:r>
              <a:t>• K/c NVL: TK 621   | • Bán tại ruộng: TK 632</a:t>
            </a:r>
            <a:br/>
            <a:r>
              <a:t>• K/c Nhân công: 622| • Thu hồi rơm rạ: 1524</a:t>
            </a:r>
            <a:br/>
            <a:r>
              <a:t>• K/c SXC: TK 627   | • Thiệt hại bão lũ: 811</a:t>
            </a:r>
            <a:br/>
            <a:r>
              <a:t>-------------------------------------</a:t>
            </a:r>
            <a:br/>
            <a:r>
              <a:t>Dư CK: Chi phí dở dang diện tích lúa</a:t>
            </a:r>
            <a:br/>
            <a:r>
              <a:t>chưa gặt cuối niên độ (Dc)</a:t>
            </a:r>
          </a:p>
        </p:txBody>
      </p:sp>
      <p:sp>
        <p:nvSpPr>
          <p:cNvPr id="12" name="Rounded Rectangle 11"/>
          <p:cNvSpPr/>
          <p:nvPr/>
        </p:nvSpPr>
        <p:spPr>
          <a:xfrm>
            <a:off x="731520" y="1280160"/>
            <a:ext cx="3291840" cy="4937760"/>
          </a:xfrm>
          <a:prstGeom prst="roundRect">
            <a:avLst/>
          </a:prstGeom>
          <a:solidFill>
            <a:srgbClr val="EEF6F0"/>
          </a:solidFill>
          <a:ln w="12700">
            <a:solidFill>
              <a:srgbClr val="2270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417320"/>
            <a:ext cx="3017520" cy="4663440"/>
          </a:xfrm>
          <a:prstGeom prst="rect">
            <a:avLst/>
          </a:prstGeom>
          <a:noFill/>
        </p:spPr>
        <p:txBody>
          <a:bodyPr wrap="square">
            <a:spAutoFit/>
          </a:bodyPr>
          <a:lstStyle/>
          <a:p>
            <a:pPr>
              <a:spcAft>
                <a:spcPts val="1000"/>
              </a:spcAft>
              <a:defRPr sz="1700" b="1">
                <a:solidFill>
                  <a:srgbClr val="123524"/>
                </a:solidFill>
                <a:latin typeface="Segoe UI"/>
              </a:defRPr>
            </a:pPr>
            <a:r>
              <a:t>TẬP HỢP ĐẦU VÀO</a:t>
            </a:r>
          </a:p>
          <a:p>
            <a:pPr>
              <a:spcAft>
                <a:spcPts val="800"/>
              </a:spcAft>
              <a:defRPr sz="1500">
                <a:solidFill>
                  <a:srgbClr val="1A2421"/>
                </a:solidFill>
                <a:latin typeface="Segoe UI"/>
              </a:defRPr>
            </a:pPr>
            <a:r>
              <a:t>TK 1521, 1522:</a:t>
            </a:r>
            <a:br/>
            <a:r>
              <a:t>→ Xuất giống, phân bón</a:t>
            </a:r>
          </a:p>
          <a:p>
            <a:pPr>
              <a:spcAft>
                <a:spcPts val="800"/>
              </a:spcAft>
              <a:defRPr sz="1500">
                <a:solidFill>
                  <a:srgbClr val="1A2421"/>
                </a:solidFill>
                <a:latin typeface="Segoe UI"/>
              </a:defRPr>
            </a:pPr>
            <a:r>
              <a:t>TK 334, 338:</a:t>
            </a:r>
            <a:br/>
            <a:r>
              <a:t>→ Lương công nhân, trích BH</a:t>
            </a:r>
          </a:p>
          <a:p>
            <a:pPr>
              <a:spcAft>
                <a:spcPts val="800"/>
              </a:spcAft>
              <a:defRPr sz="1500">
                <a:solidFill>
                  <a:srgbClr val="1A2421"/>
                </a:solidFill>
                <a:latin typeface="Segoe UI"/>
              </a:defRPr>
            </a:pPr>
            <a:r>
              <a:t>TK 154 (Phụ):</a:t>
            </a:r>
            <a:br/>
            <a:r>
              <a:t>→ Nhận máy cày, bơm nước</a:t>
            </a:r>
          </a:p>
          <a:p>
            <a:pPr>
              <a:spcAft>
                <a:spcPts val="800"/>
              </a:spcAft>
              <a:defRPr sz="1500">
                <a:solidFill>
                  <a:srgbClr val="1A2421"/>
                </a:solidFill>
                <a:latin typeface="Segoe UI"/>
              </a:defRPr>
            </a:pPr>
            <a:r>
              <a:t>TK 214, 112:</a:t>
            </a:r>
            <a:br/>
            <a:r>
              <a:t>→ Khấu hao, điện nước</a:t>
            </a:r>
          </a:p>
          <a:p>
            <a:pPr>
              <a:spcAft>
                <a:spcPts val="800"/>
              </a:spcAft>
              <a:defRPr sz="1500">
                <a:solidFill>
                  <a:srgbClr val="1A2421"/>
                </a:solidFill>
                <a:latin typeface="Segoe UI"/>
              </a:defRPr>
            </a:pPr>
            <a:r>
              <a:t>(*) Chi phí lãng phí/vượt mức:</a:t>
            </a:r>
            <a:br/>
            <a:r>
              <a:t>→ Kết chuyển thẳng Nợ TK 632</a:t>
            </a:r>
          </a:p>
        </p:txBody>
      </p:sp>
      <p:sp>
        <p:nvSpPr>
          <p:cNvPr id="14" name="Rounded Rectangle 13"/>
          <p:cNvSpPr/>
          <p:nvPr/>
        </p:nvSpPr>
        <p:spPr>
          <a:xfrm>
            <a:off x="8168335" y="1280160"/>
            <a:ext cx="3291840" cy="4937760"/>
          </a:xfrm>
          <a:prstGeom prst="roundRect">
            <a:avLst/>
          </a:prstGeom>
          <a:solidFill>
            <a:srgbClr val="EEF6F0"/>
          </a:solidFill>
          <a:ln w="12700">
            <a:solidFill>
              <a:srgbClr val="0F52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5495" y="1417320"/>
            <a:ext cx="3017520" cy="4663440"/>
          </a:xfrm>
          <a:prstGeom prst="rect">
            <a:avLst/>
          </a:prstGeom>
          <a:noFill/>
        </p:spPr>
        <p:txBody>
          <a:bodyPr wrap="square">
            <a:spAutoFit/>
          </a:bodyPr>
          <a:lstStyle/>
          <a:p>
            <a:pPr>
              <a:spcAft>
                <a:spcPts val="1000"/>
              </a:spcAft>
              <a:defRPr sz="1700" b="1">
                <a:solidFill>
                  <a:srgbClr val="0F5298"/>
                </a:solidFill>
                <a:latin typeface="Segoe UI"/>
              </a:defRPr>
            </a:pPr>
            <a:r>
              <a:t>PHÂN BỔ ĐẦU RA</a:t>
            </a:r>
          </a:p>
          <a:p>
            <a:pPr>
              <a:spcAft>
                <a:spcPts val="800"/>
              </a:spcAft>
              <a:defRPr sz="1500">
                <a:solidFill>
                  <a:srgbClr val="1A2421"/>
                </a:solidFill>
                <a:latin typeface="Segoe UI"/>
              </a:defRPr>
            </a:pPr>
            <a:r>
              <a:t>TK 1551 (Nông sản chính):</a:t>
            </a:r>
            <a:br/>
            <a:r>
              <a:t>← Nhập kho thóc, ngô hạt</a:t>
            </a:r>
          </a:p>
          <a:p>
            <a:pPr>
              <a:spcAft>
                <a:spcPts val="800"/>
              </a:spcAft>
              <a:defRPr sz="1500">
                <a:solidFill>
                  <a:srgbClr val="1A2421"/>
                </a:solidFill>
                <a:latin typeface="Segoe UI"/>
              </a:defRPr>
            </a:pPr>
            <a:r>
              <a:t>TK 632 (Giá vốn):</a:t>
            </a:r>
            <a:br/>
            <a:r>
              <a:t>← Bán thẳng tại đồng ruộng</a:t>
            </a:r>
          </a:p>
          <a:p>
            <a:pPr>
              <a:spcAft>
                <a:spcPts val="800"/>
              </a:spcAft>
              <a:defRPr sz="1500">
                <a:solidFill>
                  <a:srgbClr val="1A2421"/>
                </a:solidFill>
                <a:latin typeface="Segoe UI"/>
              </a:defRPr>
            </a:pPr>
            <a:r>
              <a:t>TK 1524 (Phụ phẩm):</a:t>
            </a:r>
            <a:br/>
            <a:r>
              <a:t>← Thu hồi rơm rạ, thân cây</a:t>
            </a:r>
          </a:p>
          <a:p>
            <a:pPr>
              <a:spcAft>
                <a:spcPts val="800"/>
              </a:spcAft>
              <a:defRPr sz="1500">
                <a:solidFill>
                  <a:srgbClr val="1A2421"/>
                </a:solidFill>
                <a:latin typeface="Segoe UI"/>
              </a:defRPr>
            </a:pPr>
            <a:r>
              <a:t>TK 811 (Chi phí khác):</a:t>
            </a:r>
            <a:br/>
            <a:r>
              <a:t>← Tổn thất thiên tai mất trắng</a:t>
            </a:r>
          </a:p>
          <a:p>
            <a:pPr>
              <a:spcAft>
                <a:spcPts val="800"/>
              </a:spcAft>
              <a:defRPr sz="1500">
                <a:solidFill>
                  <a:srgbClr val="1A2421"/>
                </a:solidFill>
                <a:latin typeface="Segoe UI"/>
              </a:defRPr>
            </a:pPr>
            <a:r>
              <a:t>TK 1388 (Bồi thường):</a:t>
            </a:r>
            <a:br/>
            <a:r>
              <a:t>← Nhận tiền bảo hiểm đền bù</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23524"/>
          </a:solidFill>
          <a:ln>
            <a:solidFill>
              <a:srgbClr val="123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D48F18"/>
          </a:solidFill>
          <a:ln>
            <a:solidFill>
              <a:srgbClr val="D48F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7772400" cy="256032"/>
          </a:xfrm>
          <a:prstGeom prst="rect">
            <a:avLst/>
          </a:prstGeom>
          <a:noFill/>
        </p:spPr>
        <p:txBody>
          <a:bodyPr wrap="square" lIns="0" tIns="0" rIns="0" bIns="0">
            <a:spAutoFit/>
          </a:bodyPr>
          <a:lstStyle/>
          <a:p>
            <a:pPr>
              <a:defRPr sz="1100" b="1">
                <a:solidFill>
                  <a:srgbClr val="D48F18"/>
                </a:solidFill>
                <a:latin typeface="Segoe UI"/>
              </a:defRPr>
            </a:pPr>
            <a:r>
              <a:t>PHẦN VIII: TÌNH HUỐNG THỰC HÀNH</a:t>
            </a:r>
          </a:p>
        </p:txBody>
      </p:sp>
      <p:sp>
        <p:nvSpPr>
          <p:cNvPr id="5" name="TextBox 4"/>
          <p:cNvSpPr txBox="1"/>
          <p:nvPr/>
        </p:nvSpPr>
        <p:spPr>
          <a:xfrm>
            <a:off x="9875520" y="91440"/>
            <a:ext cx="1584655" cy="256032"/>
          </a:xfrm>
          <a:prstGeom prst="rect">
            <a:avLst/>
          </a:prstGeom>
          <a:noFill/>
        </p:spPr>
        <p:txBody>
          <a:bodyPr wrap="none" lIns="0" tIns="0" rIns="0" bIns="0">
            <a:spAutoFit/>
          </a:bodyPr>
          <a:lstStyle/>
          <a:p>
            <a:pPr algn="r">
              <a:defRPr sz="1100" b="1">
                <a:solidFill>
                  <a:srgbClr val="FFFFFF"/>
                </a:solidFill>
                <a:latin typeface="Segoe UI"/>
              </a:defRPr>
            </a:pPr>
            <a:r>
              <a:t>Slide 15/15</a:t>
            </a:r>
          </a:p>
        </p:txBody>
      </p:sp>
      <p:sp>
        <p:nvSpPr>
          <p:cNvPr id="6" name="TextBox 5"/>
          <p:cNvSpPr txBox="1"/>
          <p:nvPr/>
        </p:nvSpPr>
        <p:spPr>
          <a:xfrm>
            <a:off x="731520" y="347472"/>
            <a:ext cx="10698480" cy="411480"/>
          </a:xfrm>
          <a:prstGeom prst="rect">
            <a:avLst/>
          </a:prstGeom>
          <a:noFill/>
        </p:spPr>
        <p:txBody>
          <a:bodyPr wrap="square" lIns="0" tIns="0" rIns="0" bIns="0">
            <a:spAutoFit/>
          </a:bodyPr>
          <a:lstStyle/>
          <a:p>
            <a:pPr>
              <a:defRPr sz="2000" b="1">
                <a:solidFill>
                  <a:srgbClr val="FFFFFF"/>
                </a:solidFill>
                <a:latin typeface="Segoe UI"/>
              </a:defRPr>
            </a:pPr>
            <a:r>
              <a:t>Case Study Thực Hành Toàn Diện: Vụ Lúa Hè Thu</a:t>
            </a:r>
          </a:p>
        </p:txBody>
      </p:sp>
      <p:sp>
        <p:nvSpPr>
          <p:cNvPr id="7" name="TextBox 6"/>
          <p:cNvSpPr txBox="1"/>
          <p:nvPr/>
        </p:nvSpPr>
        <p:spPr>
          <a:xfrm>
            <a:off x="731520" y="777240"/>
            <a:ext cx="10698480" cy="228600"/>
          </a:xfrm>
          <a:prstGeom prst="rect">
            <a:avLst/>
          </a:prstGeom>
          <a:noFill/>
        </p:spPr>
        <p:txBody>
          <a:bodyPr wrap="square" lIns="0" tIns="0" rIns="0" bIns="0">
            <a:spAutoFit/>
          </a:bodyPr>
          <a:lstStyle/>
          <a:p>
            <a:pPr>
              <a:defRPr sz="1100">
                <a:solidFill>
                  <a:srgbClr val="CDE4D7"/>
                </a:solidFill>
                <a:latin typeface="Segoe UI"/>
              </a:defRPr>
            </a:pPr>
            <a:r>
              <a:t>Tình huống thực tế có số liệu: tập hợp chi phí, trừ phụ phẩm rơm rạ và hạch toán giá thành thóc</a:t>
            </a:r>
          </a:p>
        </p:txBody>
      </p:sp>
      <p:sp>
        <p:nvSpPr>
          <p:cNvPr id="8" name="Rectangle 7"/>
          <p:cNvSpPr/>
          <p:nvPr/>
        </p:nvSpPr>
        <p:spPr>
          <a:xfrm>
            <a:off x="731520" y="6446520"/>
            <a:ext cx="10728655" cy="18288"/>
          </a:xfrm>
          <a:prstGeom prst="rect">
            <a:avLst/>
          </a:prstGeom>
          <a:solidFill>
            <a:srgbClr val="DCE2DE"/>
          </a:solidFill>
          <a:ln>
            <a:solidFill>
              <a:srgbClr val="DCE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10728655" cy="274320"/>
          </a:xfrm>
          <a:prstGeom prst="rect">
            <a:avLst/>
          </a:prstGeom>
          <a:noFill/>
        </p:spPr>
        <p:txBody>
          <a:bodyPr wrap="none" lIns="0" tIns="0" rIns="0" bIns="0">
            <a:spAutoFit/>
          </a:bodyPr>
          <a:lstStyle/>
          <a:p>
            <a:pPr>
              <a:defRPr sz="1000">
                <a:solidFill>
                  <a:srgbClr val="55625C"/>
                </a:solidFill>
                <a:latin typeface="Segoe UI"/>
              </a:defRPr>
            </a:pPr>
            <a:r>
              <a:t>Kế toán Doanh nghiệp Nông nghiệp • Cây trồng ngắn ngày • Theo Thông tư 99/2025/TT-BTC ngày 27/10/2025 của Bộ Tài chính</a:t>
            </a:r>
          </a:p>
        </p:txBody>
      </p:sp>
      <p:sp>
        <p:nvSpPr>
          <p:cNvPr id="10" name="Rounded Rectangle 9"/>
          <p:cNvSpPr/>
          <p:nvPr/>
        </p:nvSpPr>
        <p:spPr>
          <a:xfrm>
            <a:off x="731520" y="1280160"/>
            <a:ext cx="5212080" cy="4937760"/>
          </a:xfrm>
          <a:prstGeom prst="roundRect">
            <a:avLst/>
          </a:prstGeom>
          <a:solidFill>
            <a:srgbClr val="EEF6F0"/>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417320"/>
            <a:ext cx="4846320" cy="4572000"/>
          </a:xfrm>
          <a:prstGeom prst="rect">
            <a:avLst/>
          </a:prstGeom>
          <a:noFill/>
        </p:spPr>
        <p:txBody>
          <a:bodyPr wrap="square">
            <a:spAutoFit/>
          </a:bodyPr>
          <a:lstStyle/>
          <a:p>
            <a:pPr>
              <a:spcAft>
                <a:spcPts val="1000"/>
              </a:spcAft>
              <a:defRPr sz="1800" b="1">
                <a:solidFill>
                  <a:srgbClr val="123524"/>
                </a:solidFill>
                <a:latin typeface="Segoe UI"/>
              </a:defRPr>
            </a:pPr>
            <a:r>
              <a:t>TÌNH HUỐNG (Vụ Hè Thu 200 ha Lúa)</a:t>
            </a:r>
          </a:p>
          <a:p>
            <a:pPr>
              <a:defRPr sz="1400">
                <a:solidFill>
                  <a:srgbClr val="1A2421"/>
                </a:solidFill>
                <a:latin typeface="Consolas"/>
              </a:defRPr>
            </a:pPr>
            <a:r>
              <a:t>1. Chi phí sản xuất phát sinh trong vụ:</a:t>
            </a:r>
            <a:br/>
            <a:r>
              <a:t>   • Hạt giống &amp; Phân bón (TK 621): 600 triệu đ</a:t>
            </a:r>
            <a:br/>
            <a:r>
              <a:t>   • Lương công nhân &amp; trích BH (TK 622): 450 triệu đ</a:t>
            </a:r>
            <a:br/>
            <a:r>
              <a:t>   • Chi phí cày bừa &amp; SXC (TK 627): 250 triệu đ</a:t>
            </a:r>
            <a:br/>
            <a:r>
              <a:t>   -&gt; Tổng chi phí phát sinh: 1.300 triệu đ.</a:t>
            </a:r>
            <a:br/>
            <a:br/>
            <a:r>
              <a:t>2. Kiểm kê &amp; Xử lý đặc thù:</a:t>
            </a:r>
            <a:br/>
            <a:r>
              <a:t>   • Phân bón lãng phí vượt định mức (TK 632): 30 triệu đ.</a:t>
            </a:r>
            <a:br/>
            <a:r>
              <a:t>   • Thu hồi rơm rạ bán làm nấm: 70 triệu đ.</a:t>
            </a:r>
            <a:br/>
            <a:r>
              <a:t>   • Dở dang đầu kỳ và cuối kỳ: Dđ = Dc = 0 đ.</a:t>
            </a:r>
            <a:br/>
            <a:br/>
            <a:r>
              <a:t>3. Sản lượng thu hoạch: 1.200 tấn thóc khô.</a:t>
            </a:r>
          </a:p>
        </p:txBody>
      </p:sp>
      <p:sp>
        <p:nvSpPr>
          <p:cNvPr id="12" name="Rounded Rectangle 11"/>
          <p:cNvSpPr/>
          <p:nvPr/>
        </p:nvSpPr>
        <p:spPr>
          <a:xfrm>
            <a:off x="6217920" y="1280160"/>
            <a:ext cx="5212080" cy="4937760"/>
          </a:xfrm>
          <a:prstGeom prst="roundRect">
            <a:avLst/>
          </a:prstGeom>
          <a:solidFill>
            <a:srgbClr val="F5F9F6"/>
          </a:solidFill>
          <a:ln w="12700">
            <a:solidFill>
              <a:srgbClr val="B9D4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17320"/>
            <a:ext cx="4846320" cy="4572000"/>
          </a:xfrm>
          <a:prstGeom prst="rect">
            <a:avLst/>
          </a:prstGeom>
          <a:noFill/>
        </p:spPr>
        <p:txBody>
          <a:bodyPr wrap="square">
            <a:spAutoFit/>
          </a:bodyPr>
          <a:lstStyle/>
          <a:p>
            <a:pPr>
              <a:spcAft>
                <a:spcPts val="1000"/>
              </a:spcAft>
              <a:defRPr sz="1800" b="1">
                <a:solidFill>
                  <a:srgbClr val="123524"/>
                </a:solidFill>
                <a:latin typeface="Segoe UI"/>
              </a:defRPr>
            </a:pPr>
            <a:r>
              <a:t>LỜI GIẢI &amp; BÚT TOÁN ĐỊNH KHOẢN</a:t>
            </a:r>
          </a:p>
          <a:p>
            <a:pPr>
              <a:defRPr sz="1350">
                <a:solidFill>
                  <a:srgbClr val="1A2421"/>
                </a:solidFill>
                <a:latin typeface="Consolas"/>
              </a:defRPr>
            </a:pPr>
            <a:r>
              <a:t>1. Tính giá thành thóc thu hoạch:</a:t>
            </a:r>
            <a:br/>
            <a:r>
              <a:t>   • Z = 1.300tr - 30tr (vượt mức) - 70tr (rơm) = 1.200tr đ.</a:t>
            </a:r>
            <a:br/>
            <a:r>
              <a:t>   • Giá thành 1 kg thóc: 1.200.000.000 đ / 1.200.000 kg</a:t>
            </a:r>
            <a:br/>
            <a:r>
              <a:t>     = 1.000 đ/kg thóc.</a:t>
            </a:r>
            <a:br/>
            <a:br/>
            <a:r>
              <a:t>2. Định khoản kế toán:</a:t>
            </a:r>
            <a:br/>
            <a:r>
              <a:t>a) Kết chuyển chi phí &amp; Loại trừ vượt mức:</a:t>
            </a:r>
            <a:br/>
            <a:r>
              <a:t>   Nợ TK 154: 1.270 triệu đ</a:t>
            </a:r>
            <a:br/>
            <a:r>
              <a:t>   Nợ TK 632:   30 triệu đ (phân bón lãng phí)</a:t>
            </a:r>
            <a:br/>
            <a:r>
              <a:t>       Có TK 621: 600 triệu | Có TK 622: 450 triệu</a:t>
            </a:r>
            <a:br/>
            <a:r>
              <a:t>       Có TK 627: 250 triệu</a:t>
            </a:r>
            <a:br/>
            <a:r>
              <a:t>b) Thu hồi phụ phẩm rơm rạ:</a:t>
            </a:r>
            <a:br/>
            <a:r>
              <a:t>   Nợ TK 112: 70 triệu đ / Có TK 154: 70 triệu đ</a:t>
            </a:r>
            <a:br/>
            <a:r>
              <a:t>c) Nhập kho 1.200 tấn thóc hoàn thành:</a:t>
            </a:r>
            <a:br/>
            <a:r>
              <a:t>   Nợ TK 1551: 1.200 triệu đ / Có TK 154: 1.200 triệu đ</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